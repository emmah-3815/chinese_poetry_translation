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 id="2147483703"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Roboto"/>
      <p:regular r:id="rId16"/>
      <p:bold r:id="rId17"/>
      <p:italic r:id="rId18"/>
      <p:boldItalic r:id="rId19"/>
    </p:embeddedFont>
    <p:embeddedFont>
      <p:font typeface="Poppins"/>
      <p:regular r:id="rId20"/>
      <p:bold r:id="rId21"/>
      <p:italic r:id="rId22"/>
      <p:boldItalic r:id="rId23"/>
    </p:embeddedFont>
    <p:embeddedFont>
      <p:font typeface="Poppins Medium"/>
      <p:regular r:id="rId24"/>
      <p:bold r:id="rId25"/>
      <p:italic r:id="rId26"/>
      <p:boldItalic r:id="rId27"/>
    </p:embeddedFont>
    <p:embeddedFont>
      <p:font typeface="Nunito Sans SemiBold"/>
      <p:regular r:id="rId28"/>
      <p:bold r:id="rId29"/>
      <p:italic r:id="rId30"/>
      <p:boldItalic r:id="rId31"/>
    </p:embeddedFont>
    <p:embeddedFont>
      <p:font typeface="Poppins SemiBold"/>
      <p:regular r:id="rId32"/>
      <p:bold r:id="rId33"/>
      <p:italic r:id="rId34"/>
      <p:boldItalic r:id="rId35"/>
    </p:embeddedFont>
    <p:embeddedFont>
      <p:font typeface="Nunito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1E7FC8-B988-4483-BCE8-EAA5825FA8B0}">
  <a:tblStyle styleId="{BD1E7FC8-B988-4483-BCE8-EAA5825FA8B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Medium-regular.fntdata"/><Relationship Id="rId23" Type="http://schemas.openxmlformats.org/officeDocument/2006/relationships/font" Target="fonts/Poppi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PoppinsMedium-italic.fntdata"/><Relationship Id="rId25" Type="http://schemas.openxmlformats.org/officeDocument/2006/relationships/font" Target="fonts/PoppinsMedium-bold.fntdata"/><Relationship Id="rId28" Type="http://schemas.openxmlformats.org/officeDocument/2006/relationships/font" Target="fonts/NunitoSansSemiBold-regular.fntdata"/><Relationship Id="rId27" Type="http://schemas.openxmlformats.org/officeDocument/2006/relationships/font" Target="fonts/PoppinsMedium-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unitoSansSemiBold-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unitoSansSemiBold-boldItalic.fntdata"/><Relationship Id="rId30" Type="http://schemas.openxmlformats.org/officeDocument/2006/relationships/font" Target="fonts/NunitoSansSemiBold-italic.fntdata"/><Relationship Id="rId11" Type="http://schemas.openxmlformats.org/officeDocument/2006/relationships/slide" Target="slides/slide4.xml"/><Relationship Id="rId33" Type="http://schemas.openxmlformats.org/officeDocument/2006/relationships/font" Target="fonts/PoppinsSemiBold-bold.fntdata"/><Relationship Id="rId10" Type="http://schemas.openxmlformats.org/officeDocument/2006/relationships/slide" Target="slides/slide3.xml"/><Relationship Id="rId32" Type="http://schemas.openxmlformats.org/officeDocument/2006/relationships/font" Target="fonts/PoppinsSemiBold-regular.fntdata"/><Relationship Id="rId13" Type="http://schemas.openxmlformats.org/officeDocument/2006/relationships/slide" Target="slides/slide6.xml"/><Relationship Id="rId35" Type="http://schemas.openxmlformats.org/officeDocument/2006/relationships/font" Target="fonts/PoppinsSemiBold-boldItalic.fntdata"/><Relationship Id="rId12" Type="http://schemas.openxmlformats.org/officeDocument/2006/relationships/slide" Target="slides/slide5.xml"/><Relationship Id="rId34" Type="http://schemas.openxmlformats.org/officeDocument/2006/relationships/font" Target="fonts/PoppinsSemiBold-italic.fntdata"/><Relationship Id="rId15" Type="http://schemas.openxmlformats.org/officeDocument/2006/relationships/slide" Target="slides/slide8.xml"/><Relationship Id="rId37" Type="http://schemas.openxmlformats.org/officeDocument/2006/relationships/font" Target="fonts/NunitoSans-bold.fntdata"/><Relationship Id="rId14" Type="http://schemas.openxmlformats.org/officeDocument/2006/relationships/slide" Target="slides/slide7.xml"/><Relationship Id="rId36" Type="http://schemas.openxmlformats.org/officeDocument/2006/relationships/font" Target="fonts/NunitoSans-regular.fntdata"/><Relationship Id="rId17" Type="http://schemas.openxmlformats.org/officeDocument/2006/relationships/font" Target="fonts/Roboto-bold.fntdata"/><Relationship Id="rId39" Type="http://schemas.openxmlformats.org/officeDocument/2006/relationships/font" Target="fonts/NunitoSans-boldItalic.fntdata"/><Relationship Id="rId16" Type="http://schemas.openxmlformats.org/officeDocument/2006/relationships/font" Target="fonts/Roboto-regular.fntdata"/><Relationship Id="rId38" Type="http://schemas.openxmlformats.org/officeDocument/2006/relationships/font" Target="fonts/NunitoSans-italic.fntdata"/><Relationship Id="rId19" Type="http://schemas.openxmlformats.org/officeDocument/2006/relationships/font" Target="fonts/Roboto-boldItalic.fntdata"/><Relationship Id="rId18" Type="http://schemas.openxmlformats.org/officeDocument/2006/relationships/font" Target="fonts/Roboto-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c8e1e6855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c8e1e6855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ec8e1e6855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ec8e1e6855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595959"/>
                </a:solidFill>
              </a:rPr>
              <a:t>The problem </a:t>
            </a:r>
            <a:endParaRPr sz="1800">
              <a:solidFill>
                <a:srgbClr val="595959"/>
              </a:solidFill>
            </a:endParaRPr>
          </a:p>
          <a:p>
            <a:pPr indent="0" lvl="0" marL="0" rtl="0" algn="l">
              <a:lnSpc>
                <a:spcPct val="115000"/>
              </a:lnSpc>
              <a:spcBef>
                <a:spcPts val="1200"/>
              </a:spcBef>
              <a:spcAft>
                <a:spcPts val="0"/>
              </a:spcAft>
              <a:buNone/>
            </a:pPr>
            <a:r>
              <a:rPr lang="en" sz="1800">
                <a:solidFill>
                  <a:srgbClr val="595959"/>
                </a:solidFill>
              </a:rPr>
              <a:t>In the recent years, the rise of AI has led to highly sophisticated and intelligent Large Language models - LLMs capable of forming natural and human like language. LLMs have also shown an improvement over traditional machine translations as they are able to incorporate and understand contextual and relational information much better than traditional methods.~\cite{gao2024machine} However, LLMs have yet to master the translation of foreign language poems, which is far more difficult than academic or everyday language. As Robert Frost puts it, "Poetry is what gets lost in translation," which implies that poetry is some intangible, ineffable thing, which although constructed in language cannot be transposed across languages.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n" sz="1800">
                <a:solidFill>
                  <a:srgbClr val="595959"/>
                </a:solidFill>
              </a:rPr>
              <a:t>and motivation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ec8e1e6855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ec8e1e6855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595959"/>
                </a:solidFill>
              </a:rPr>
              <a:t>Your core idea / method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c8e1e6855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ec8e1e6855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e71b4baeb5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e71b4baeb5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c8e1e6855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ec8e1e6855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71b4baeb5_2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e71b4baeb5_2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71b4baeb5_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e71b4baeb5_2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56" name="Google Shape;56;p14"/>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57" name="Google Shape;57;p14"/>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58" name="Google Shape;58;p14"/>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59" name="Google Shape;59;p14"/>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0" name="Google Shape;60;p14"/>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61" name="Google Shape;61;p14"/>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62" name="Google Shape;62;p14"/>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65" name="Google Shape;65;p1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66" name="Google Shape;66;p15"/>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67" name="Google Shape;67;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8" name="Google Shape;68;p15"/>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1" name="Google Shape;71;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72" name="Google Shape;72;p16"/>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73" name="Google Shape;73;p1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74" name="Shape 74"/>
        <p:cNvGrpSpPr/>
        <p:nvPr/>
      </p:nvGrpSpPr>
      <p:grpSpPr>
        <a:xfrm>
          <a:off x="0" y="0"/>
          <a:ext cx="0" cy="0"/>
          <a:chOff x="0" y="0"/>
          <a:chExt cx="0" cy="0"/>
        </a:xfrm>
      </p:grpSpPr>
      <p:sp>
        <p:nvSpPr>
          <p:cNvPr id="75" name="Google Shape;75;p17"/>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76" name="Google Shape;76;p17"/>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7" name="Google Shape;77;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8" name="Google Shape;78;p17"/>
          <p:cNvSpPr/>
          <p:nvPr>
            <p:ph idx="2" type="pic"/>
          </p:nvPr>
        </p:nvSpPr>
        <p:spPr>
          <a:xfrm>
            <a:off x="1208525" y="1164275"/>
            <a:ext cx="1115700" cy="1118100"/>
          </a:xfrm>
          <a:prstGeom prst="roundRect">
            <a:avLst>
              <a:gd fmla="val 16667" name="adj"/>
            </a:avLst>
          </a:prstGeom>
          <a:noFill/>
          <a:ln>
            <a:noFill/>
          </a:ln>
        </p:spPr>
      </p:sp>
      <p:sp>
        <p:nvSpPr>
          <p:cNvPr id="79" name="Google Shape;79;p17"/>
          <p:cNvSpPr/>
          <p:nvPr>
            <p:ph idx="3" type="pic"/>
          </p:nvPr>
        </p:nvSpPr>
        <p:spPr>
          <a:xfrm>
            <a:off x="3079163" y="1164275"/>
            <a:ext cx="1115700" cy="1118100"/>
          </a:xfrm>
          <a:prstGeom prst="roundRect">
            <a:avLst>
              <a:gd fmla="val 16667" name="adj"/>
            </a:avLst>
          </a:prstGeom>
          <a:noFill/>
          <a:ln>
            <a:noFill/>
          </a:ln>
        </p:spPr>
      </p:sp>
      <p:sp>
        <p:nvSpPr>
          <p:cNvPr id="80" name="Google Shape;80;p17"/>
          <p:cNvSpPr/>
          <p:nvPr>
            <p:ph idx="4" type="pic"/>
          </p:nvPr>
        </p:nvSpPr>
        <p:spPr>
          <a:xfrm>
            <a:off x="4949788" y="1164275"/>
            <a:ext cx="1115700" cy="1118100"/>
          </a:xfrm>
          <a:prstGeom prst="roundRect">
            <a:avLst>
              <a:gd fmla="val 16667" name="adj"/>
            </a:avLst>
          </a:prstGeom>
          <a:noFill/>
          <a:ln>
            <a:noFill/>
          </a:ln>
        </p:spPr>
      </p:sp>
      <p:sp>
        <p:nvSpPr>
          <p:cNvPr id="81" name="Google Shape;81;p17"/>
          <p:cNvSpPr/>
          <p:nvPr>
            <p:ph idx="5" type="pic"/>
          </p:nvPr>
        </p:nvSpPr>
        <p:spPr>
          <a:xfrm>
            <a:off x="6820413" y="1164275"/>
            <a:ext cx="1115700" cy="1118100"/>
          </a:xfrm>
          <a:prstGeom prst="roundRect">
            <a:avLst>
              <a:gd fmla="val 16667" name="adj"/>
            </a:avLst>
          </a:prstGeom>
          <a:noFill/>
          <a:ln>
            <a:noFill/>
          </a:ln>
        </p:spPr>
      </p:sp>
      <p:sp>
        <p:nvSpPr>
          <p:cNvPr id="82" name="Google Shape;82;p17"/>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3" name="Google Shape;83;p17"/>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4" name="Google Shape;84;p17"/>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5" name="Google Shape;85;p17"/>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6" name="Google Shape;86;p17"/>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7" name="Google Shape;87;p17"/>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8" name="Google Shape;88;p17"/>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9" name="Google Shape;89;p17"/>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0" name="Google Shape;90;p17"/>
          <p:cNvSpPr/>
          <p:nvPr>
            <p:ph idx="16" type="pic"/>
          </p:nvPr>
        </p:nvSpPr>
        <p:spPr>
          <a:xfrm>
            <a:off x="3079163" y="2958825"/>
            <a:ext cx="1115700" cy="1118100"/>
          </a:xfrm>
          <a:prstGeom prst="roundRect">
            <a:avLst>
              <a:gd fmla="val 16667" name="adj"/>
            </a:avLst>
          </a:prstGeom>
          <a:noFill/>
          <a:ln>
            <a:noFill/>
          </a:ln>
        </p:spPr>
      </p:sp>
      <p:sp>
        <p:nvSpPr>
          <p:cNvPr id="91" name="Google Shape;91;p17"/>
          <p:cNvSpPr/>
          <p:nvPr>
            <p:ph idx="17" type="pic"/>
          </p:nvPr>
        </p:nvSpPr>
        <p:spPr>
          <a:xfrm>
            <a:off x="4949788" y="2958825"/>
            <a:ext cx="1115700" cy="1118100"/>
          </a:xfrm>
          <a:prstGeom prst="roundRect">
            <a:avLst>
              <a:gd fmla="val 16667" name="adj"/>
            </a:avLst>
          </a:prstGeom>
          <a:noFill/>
          <a:ln>
            <a:noFill/>
          </a:ln>
        </p:spPr>
      </p:sp>
      <p:sp>
        <p:nvSpPr>
          <p:cNvPr id="92" name="Google Shape;92;p17"/>
          <p:cNvSpPr/>
          <p:nvPr>
            <p:ph idx="18" type="pic"/>
          </p:nvPr>
        </p:nvSpPr>
        <p:spPr>
          <a:xfrm>
            <a:off x="6820413" y="2958825"/>
            <a:ext cx="1115700" cy="1118100"/>
          </a:xfrm>
          <a:prstGeom prst="roundRect">
            <a:avLst>
              <a:gd fmla="val 16667" name="adj"/>
            </a:avLst>
          </a:prstGeom>
          <a:noFill/>
          <a:ln>
            <a:noFill/>
          </a:ln>
        </p:spPr>
      </p:sp>
      <p:sp>
        <p:nvSpPr>
          <p:cNvPr id="93" name="Google Shape;93;p17"/>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4" name="Google Shape;94;p17"/>
          <p:cNvSpPr/>
          <p:nvPr>
            <p:ph idx="20" type="pic"/>
          </p:nvPr>
        </p:nvSpPr>
        <p:spPr>
          <a:xfrm>
            <a:off x="1208550" y="2958825"/>
            <a:ext cx="1115700" cy="1118100"/>
          </a:xfrm>
          <a:prstGeom prst="roundRect">
            <a:avLst>
              <a:gd fmla="val 16667" name="adj"/>
            </a:avLst>
          </a:prstGeom>
          <a:noFill/>
          <a:ln>
            <a:noFill/>
          </a:ln>
        </p:spPr>
      </p:sp>
      <p:sp>
        <p:nvSpPr>
          <p:cNvPr id="95" name="Google Shape;95;p17"/>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6" name="Google Shape;96;p17"/>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7" name="Google Shape;97;p17"/>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8" name="Google Shape;98;p17"/>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9" name="Google Shape;99;p17"/>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0" name="Google Shape;100;p17"/>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1" name="Google Shape;101;p17"/>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2" name="Google Shape;102;p17"/>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103" name="Shape 103"/>
        <p:cNvGrpSpPr/>
        <p:nvPr/>
      </p:nvGrpSpPr>
      <p:grpSpPr>
        <a:xfrm>
          <a:off x="0" y="0"/>
          <a:ext cx="0" cy="0"/>
          <a:chOff x="0" y="0"/>
          <a:chExt cx="0" cy="0"/>
        </a:xfrm>
      </p:grpSpPr>
      <p:sp>
        <p:nvSpPr>
          <p:cNvPr id="104" name="Google Shape;104;p18"/>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5" name="Google Shape;105;p18"/>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6" name="Google Shape;106;p18"/>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7" name="Google Shape;107;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08" name="Google Shape;108;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09" name="Google Shape;109;p18"/>
          <p:cNvSpPr/>
          <p:nvPr>
            <p:ph idx="3" type="pic"/>
          </p:nvPr>
        </p:nvSpPr>
        <p:spPr>
          <a:xfrm>
            <a:off x="988450" y="2967538"/>
            <a:ext cx="1264200" cy="1258500"/>
          </a:xfrm>
          <a:prstGeom prst="roundRect">
            <a:avLst>
              <a:gd fmla="val 16718" name="adj"/>
            </a:avLst>
          </a:prstGeom>
          <a:noFill/>
          <a:ln>
            <a:noFill/>
          </a:ln>
        </p:spPr>
      </p:sp>
      <p:sp>
        <p:nvSpPr>
          <p:cNvPr id="110" name="Google Shape;110;p18"/>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1" name="Google Shape;111;p18"/>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2" name="Google Shape;112;p18"/>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13" name="Google Shape;113;p18"/>
          <p:cNvSpPr/>
          <p:nvPr>
            <p:ph idx="7" type="pic"/>
          </p:nvPr>
        </p:nvSpPr>
        <p:spPr>
          <a:xfrm>
            <a:off x="4685500" y="1169975"/>
            <a:ext cx="1264200" cy="1258500"/>
          </a:xfrm>
          <a:prstGeom prst="roundRect">
            <a:avLst>
              <a:gd fmla="val 16718" name="adj"/>
            </a:avLst>
          </a:prstGeom>
          <a:noFill/>
          <a:ln>
            <a:noFill/>
          </a:ln>
        </p:spPr>
      </p:sp>
      <p:sp>
        <p:nvSpPr>
          <p:cNvPr id="114" name="Google Shape;114;p18"/>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5" name="Google Shape;115;p18"/>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6" name="Google Shape;116;p18"/>
          <p:cNvSpPr/>
          <p:nvPr>
            <p:ph idx="13" type="pic"/>
          </p:nvPr>
        </p:nvSpPr>
        <p:spPr>
          <a:xfrm>
            <a:off x="4685500" y="2967538"/>
            <a:ext cx="1264200" cy="1258500"/>
          </a:xfrm>
          <a:prstGeom prst="roundRect">
            <a:avLst>
              <a:gd fmla="val 16718" name="adj"/>
            </a:avLst>
          </a:prstGeom>
          <a:noFill/>
          <a:ln>
            <a:noFill/>
          </a:ln>
        </p:spPr>
      </p:sp>
      <p:sp>
        <p:nvSpPr>
          <p:cNvPr id="117" name="Google Shape;117;p18"/>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8" name="Google Shape;118;p18"/>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9" name="Google Shape;119;p18"/>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20" name="Google Shape;120;p18"/>
          <p:cNvSpPr/>
          <p:nvPr>
            <p:ph idx="17" type="pic"/>
          </p:nvPr>
        </p:nvSpPr>
        <p:spPr>
          <a:xfrm>
            <a:off x="988450" y="1169975"/>
            <a:ext cx="1264200" cy="1258500"/>
          </a:xfrm>
          <a:prstGeom prst="roundRect">
            <a:avLst>
              <a:gd fmla="val 16718" name="adj"/>
            </a:avLst>
          </a:prstGeom>
          <a:noFill/>
          <a:ln>
            <a:noFill/>
          </a:ln>
        </p:spPr>
      </p:sp>
      <p:sp>
        <p:nvSpPr>
          <p:cNvPr id="121" name="Google Shape;121;p18"/>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22" name="Google Shape;122;p18"/>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23" name="Google Shape;123;p18"/>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26" name="Google Shape;126;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27" name="Google Shape;127;p19"/>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28" name="Google Shape;128;p19"/>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129" name="Shape 129"/>
        <p:cNvGrpSpPr/>
        <p:nvPr/>
      </p:nvGrpSpPr>
      <p:grpSpPr>
        <a:xfrm>
          <a:off x="0" y="0"/>
          <a:ext cx="0" cy="0"/>
          <a:chOff x="0" y="0"/>
          <a:chExt cx="0" cy="0"/>
        </a:xfrm>
      </p:grpSpPr>
      <p:sp>
        <p:nvSpPr>
          <p:cNvPr id="130" name="Google Shape;130;p20"/>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1" name="Google Shape;131;p20"/>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2" name="Google Shape;132;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3" name="Google Shape;133;p2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34" name="Google Shape;134;p20"/>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135" name="Shape 135"/>
        <p:cNvGrpSpPr/>
        <p:nvPr/>
      </p:nvGrpSpPr>
      <p:grpSpPr>
        <a:xfrm>
          <a:off x="0" y="0"/>
          <a:ext cx="0" cy="0"/>
          <a:chOff x="0" y="0"/>
          <a:chExt cx="0" cy="0"/>
        </a:xfrm>
      </p:grpSpPr>
      <p:sp>
        <p:nvSpPr>
          <p:cNvPr id="136" name="Google Shape;136;p21"/>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137" name="Google Shape;137;p21"/>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138" name="Google Shape;138;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9" name="Google Shape;139;p2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140" name="Shape 140"/>
        <p:cNvGrpSpPr/>
        <p:nvPr/>
      </p:nvGrpSpPr>
      <p:grpSpPr>
        <a:xfrm>
          <a:off x="0" y="0"/>
          <a:ext cx="0" cy="0"/>
          <a:chOff x="0" y="0"/>
          <a:chExt cx="0" cy="0"/>
        </a:xfrm>
      </p:grpSpPr>
      <p:pic>
        <p:nvPicPr>
          <p:cNvPr id="141" name="Google Shape;141;p22"/>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142" name="Google Shape;142;p22"/>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143" name="Google Shape;143;p22"/>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144" name="Google Shape;144;p22"/>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45" name="Shape 145"/>
        <p:cNvGrpSpPr/>
        <p:nvPr/>
      </p:nvGrpSpPr>
      <p:grpSpPr>
        <a:xfrm>
          <a:off x="0" y="0"/>
          <a:ext cx="0" cy="0"/>
          <a:chOff x="0" y="0"/>
          <a:chExt cx="0" cy="0"/>
        </a:xfrm>
      </p:grpSpPr>
      <p:sp>
        <p:nvSpPr>
          <p:cNvPr id="146" name="Google Shape;146;p23"/>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 name="Google Shape;147;p2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8" name="Google Shape;148;p2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9" name="Google Shape;149;p2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0" name="Google Shape;150;p2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1" name="Google Shape;151;p2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2" name="Google Shape;152;p2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53" name="Google Shape;153;p23"/>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54" name="Google Shape;154;p2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5" name="Google Shape;155;p2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6" name="Google Shape;156;p2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7" name="Google Shape;157;p2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8" name="Google Shape;158;p2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9" name="Google Shape;159;p2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60" name="Google Shape;160;p23"/>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1" name="Google Shape;161;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62" name="Google Shape;162;p23"/>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3" name="Google Shape;163;p23"/>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4" name="Google Shape;164;p23"/>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5" name="Google Shape;165;p23"/>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6" name="Google Shape;166;p23"/>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7" name="Google Shape;167;p23"/>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8" name="Google Shape;168;p2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69"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71" name="Google Shape;171;p24"/>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72" name="Google Shape;172;p24"/>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3" name="Google Shape;173;p2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74" name="Google Shape;174;p24"/>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75" name="Google Shape;175;p24"/>
          <p:cNvSpPr/>
          <p:nvPr>
            <p:ph idx="2" type="pic"/>
          </p:nvPr>
        </p:nvSpPr>
        <p:spPr>
          <a:xfrm>
            <a:off x="5212300" y="460300"/>
            <a:ext cx="3702900" cy="4136100"/>
          </a:xfrm>
          <a:prstGeom prst="roundRect">
            <a:avLst>
              <a:gd fmla="val 6865" name="adj"/>
            </a:avLst>
          </a:prstGeom>
          <a:noFill/>
          <a:ln>
            <a:noFill/>
          </a:ln>
        </p:spPr>
      </p:sp>
      <p:sp>
        <p:nvSpPr>
          <p:cNvPr id="176" name="Google Shape;176;p24"/>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7" name="Google Shape;177;p24"/>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8" name="Google Shape;178;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79" name="Google Shape;179;p2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80" name="Shape 180"/>
        <p:cNvGrpSpPr/>
        <p:nvPr/>
      </p:nvGrpSpPr>
      <p:grpSpPr>
        <a:xfrm>
          <a:off x="0" y="0"/>
          <a:ext cx="0" cy="0"/>
          <a:chOff x="0" y="0"/>
          <a:chExt cx="0" cy="0"/>
        </a:xfrm>
      </p:grpSpPr>
      <p:pic>
        <p:nvPicPr>
          <p:cNvPr id="181" name="Google Shape;181;p25"/>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82" name="Google Shape;182;p25"/>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83" name="Google Shape;183;p25"/>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84" name="Google Shape;184;p25"/>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85" name="Google Shape;185;p25"/>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86" name="Google Shape;186;p2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87" name="Google Shape;187;p25"/>
          <p:cNvSpPr/>
          <p:nvPr>
            <p:ph idx="2" type="pic"/>
          </p:nvPr>
        </p:nvSpPr>
        <p:spPr>
          <a:xfrm>
            <a:off x="5212300" y="460300"/>
            <a:ext cx="3702900" cy="4136100"/>
          </a:xfrm>
          <a:prstGeom prst="roundRect">
            <a:avLst>
              <a:gd fmla="val 6865" name="adj"/>
            </a:avLst>
          </a:prstGeom>
          <a:noFill/>
          <a:ln>
            <a:noFill/>
          </a:ln>
        </p:spPr>
      </p:sp>
      <p:sp>
        <p:nvSpPr>
          <p:cNvPr id="188" name="Google Shape;188;p2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89" name="Google Shape;189;p25"/>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0" name="Google Shape;190;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1" name="Google Shape;191;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92" name="Shape 192"/>
        <p:cNvGrpSpPr/>
        <p:nvPr/>
      </p:nvGrpSpPr>
      <p:grpSpPr>
        <a:xfrm>
          <a:off x="0" y="0"/>
          <a:ext cx="0" cy="0"/>
          <a:chOff x="0" y="0"/>
          <a:chExt cx="0" cy="0"/>
        </a:xfrm>
      </p:grpSpPr>
      <p:pic>
        <p:nvPicPr>
          <p:cNvPr id="193" name="Google Shape;193;p26"/>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94" name="Google Shape;194;p26"/>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95" name="Google Shape;195;p26"/>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96" name="Google Shape;196;p26"/>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97" name="Google Shape;197;p26"/>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98" name="Google Shape;198;p26"/>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99" name="Google Shape;199;p26"/>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0" name="Google Shape;200;p26"/>
          <p:cNvSpPr/>
          <p:nvPr>
            <p:ph idx="2" type="pic"/>
          </p:nvPr>
        </p:nvSpPr>
        <p:spPr>
          <a:xfrm>
            <a:off x="313800" y="460300"/>
            <a:ext cx="3702900" cy="4136100"/>
          </a:xfrm>
          <a:prstGeom prst="roundRect">
            <a:avLst>
              <a:gd fmla="val 6865" name="adj"/>
            </a:avLst>
          </a:prstGeom>
          <a:noFill/>
          <a:ln>
            <a:noFill/>
          </a:ln>
        </p:spPr>
      </p:sp>
      <p:sp>
        <p:nvSpPr>
          <p:cNvPr id="201" name="Google Shape;201;p26"/>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2" name="Google Shape;202;p2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203" name="Google Shape;203;p26"/>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204" name="Shape 204"/>
        <p:cNvGrpSpPr/>
        <p:nvPr/>
      </p:nvGrpSpPr>
      <p:grpSpPr>
        <a:xfrm>
          <a:off x="0" y="0"/>
          <a:ext cx="0" cy="0"/>
          <a:chOff x="0" y="0"/>
          <a:chExt cx="0" cy="0"/>
        </a:xfrm>
      </p:grpSpPr>
      <p:pic>
        <p:nvPicPr>
          <p:cNvPr id="205" name="Google Shape;205;p27"/>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206" name="Google Shape;206;p27"/>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207" name="Google Shape;207;p27"/>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208" name="Google Shape;208;p27"/>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09" name="Google Shape;209;p27"/>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210" name="Google Shape;210;p27"/>
          <p:cNvSpPr/>
          <p:nvPr>
            <p:ph idx="2" type="pic"/>
          </p:nvPr>
        </p:nvSpPr>
        <p:spPr>
          <a:xfrm>
            <a:off x="5212300" y="460300"/>
            <a:ext cx="3702900" cy="4136100"/>
          </a:xfrm>
          <a:prstGeom prst="roundRect">
            <a:avLst>
              <a:gd fmla="val 6865" name="adj"/>
            </a:avLst>
          </a:prstGeom>
          <a:noFill/>
          <a:ln>
            <a:noFill/>
          </a:ln>
        </p:spPr>
      </p:sp>
      <p:sp>
        <p:nvSpPr>
          <p:cNvPr id="211" name="Google Shape;211;p27"/>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2" name="Google Shape;212;p27"/>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13" name="Google Shape;213;p2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214" name="Google Shape;214;p2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215" name="Shape 215"/>
        <p:cNvGrpSpPr/>
        <p:nvPr/>
      </p:nvGrpSpPr>
      <p:grpSpPr>
        <a:xfrm>
          <a:off x="0" y="0"/>
          <a:ext cx="0" cy="0"/>
          <a:chOff x="0" y="0"/>
          <a:chExt cx="0" cy="0"/>
        </a:xfrm>
      </p:grpSpPr>
      <p:sp>
        <p:nvSpPr>
          <p:cNvPr id="216" name="Google Shape;216;p28"/>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28"/>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28"/>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9" name="Google Shape;219;p28"/>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220" name="Google Shape;220;p28"/>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1" name="Google Shape;221;p28"/>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2" name="Google Shape;222;p2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23" name="Google Shape;223;p2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4" name="Google Shape;224;p28"/>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225" name="Shape 225"/>
        <p:cNvGrpSpPr/>
        <p:nvPr/>
      </p:nvGrpSpPr>
      <p:grpSpPr>
        <a:xfrm>
          <a:off x="0" y="0"/>
          <a:ext cx="0" cy="0"/>
          <a:chOff x="0" y="0"/>
          <a:chExt cx="0" cy="0"/>
        </a:xfrm>
      </p:grpSpPr>
      <p:pic>
        <p:nvPicPr>
          <p:cNvPr id="226" name="Google Shape;226;p29"/>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227" name="Google Shape;227;p29"/>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228" name="Google Shape;228;p29"/>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29" name="Google Shape;229;p29"/>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30" name="Google Shape;230;p29"/>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231" name="Google Shape;231;p29"/>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29"/>
          <p:cNvSpPr/>
          <p:nvPr>
            <p:ph idx="5" type="pic"/>
          </p:nvPr>
        </p:nvSpPr>
        <p:spPr>
          <a:xfrm>
            <a:off x="309350" y="1425725"/>
            <a:ext cx="1409700" cy="1409700"/>
          </a:xfrm>
          <a:prstGeom prst="roundRect">
            <a:avLst>
              <a:gd fmla="val 16667" name="adj"/>
            </a:avLst>
          </a:prstGeom>
          <a:noFill/>
          <a:ln>
            <a:noFill/>
          </a:ln>
        </p:spPr>
      </p:sp>
      <p:pic>
        <p:nvPicPr>
          <p:cNvPr id="233" name="Google Shape;233;p29"/>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234" name="Google Shape;234;p29"/>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235" name="Google Shape;235;p29"/>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36" name="Google Shape;236;p2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7" name="Google Shape;237;p29"/>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238" name="Shape 238"/>
        <p:cNvGrpSpPr/>
        <p:nvPr/>
      </p:nvGrpSpPr>
      <p:grpSpPr>
        <a:xfrm>
          <a:off x="0" y="0"/>
          <a:ext cx="0" cy="0"/>
          <a:chOff x="0" y="0"/>
          <a:chExt cx="0" cy="0"/>
        </a:xfrm>
      </p:grpSpPr>
      <p:pic>
        <p:nvPicPr>
          <p:cNvPr id="239" name="Google Shape;239;p3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40" name="Google Shape;240;p30"/>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1" name="Google Shape;241;p30"/>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2" name="Google Shape;242;p30"/>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3" name="Google Shape;243;p30"/>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4" name="Google Shape;244;p30"/>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5" name="Google Shape;245;p30"/>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6" name="Google Shape;246;p30"/>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7" name="Google Shape;247;p30"/>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8" name="Google Shape;248;p30"/>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9" name="Google Shape;249;p30"/>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50" name="Google Shape;250;p30"/>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1" name="Google Shape;251;p30"/>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2" name="Google Shape;252;p30"/>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3" name="Google Shape;253;p30"/>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4" name="Google Shape;254;p3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55" name="Google Shape;255;p30"/>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6" name="Google Shape;256;p30"/>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7" name="Google Shape;257;p30"/>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8" name="Google Shape;258;p30"/>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9" name="Google Shape;259;p30"/>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0" name="Google Shape;260;p30"/>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1" name="Google Shape;261;p30"/>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2" name="Google Shape;262;p30"/>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3" name="Google Shape;263;p30"/>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64" name="Google Shape;264;p30"/>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5" name="Google Shape;265;p3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66" name="Google Shape;266;p3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69" name="Google Shape;269;p31"/>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0" name="Google Shape;270;p31"/>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1" name="Google Shape;271;p31"/>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72" name="Google Shape;272;p31"/>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3" name="Google Shape;273;p31"/>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4" name="Google Shape;274;p31"/>
          <p:cNvSpPr/>
          <p:nvPr>
            <p:ph idx="5" type="pic"/>
          </p:nvPr>
        </p:nvSpPr>
        <p:spPr>
          <a:xfrm>
            <a:off x="309350" y="952800"/>
            <a:ext cx="2754000" cy="1634100"/>
          </a:xfrm>
          <a:prstGeom prst="roundRect">
            <a:avLst>
              <a:gd fmla="val 16667" name="adj"/>
            </a:avLst>
          </a:prstGeom>
          <a:noFill/>
          <a:ln>
            <a:noFill/>
          </a:ln>
        </p:spPr>
      </p:sp>
      <p:sp>
        <p:nvSpPr>
          <p:cNvPr id="275" name="Google Shape;275;p31"/>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6" name="Google Shape;276;p31"/>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77" name="Google Shape;277;p31"/>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78" name="Google Shape;278;p3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9" name="Google Shape;279;p31"/>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0" name="Google Shape;280;p31"/>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81" name="Shape 281"/>
        <p:cNvGrpSpPr/>
        <p:nvPr/>
      </p:nvGrpSpPr>
      <p:grpSpPr>
        <a:xfrm>
          <a:off x="0" y="0"/>
          <a:ext cx="0" cy="0"/>
          <a:chOff x="0" y="0"/>
          <a:chExt cx="0" cy="0"/>
        </a:xfrm>
      </p:grpSpPr>
      <p:pic>
        <p:nvPicPr>
          <p:cNvPr id="282" name="Google Shape;282;p3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3" name="Google Shape;283;p32"/>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4" name="Google Shape;284;p32"/>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5" name="Google Shape;285;p32"/>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86" name="Google Shape;286;p32"/>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7" name="Google Shape;287;p32"/>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8" name="Google Shape;288;p32"/>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9" name="Google Shape;289;p32"/>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0" name="Google Shape;290;p3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1" name="Google Shape;291;p32"/>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2" name="Google Shape;292;p32"/>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3" name="Google Shape;293;p32"/>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4" name="Google Shape;294;p32"/>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5" name="Google Shape;295;p32"/>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6" name="Google Shape;296;p32"/>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7" name="Google Shape;297;p32"/>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8" name="Google Shape;298;p32"/>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9" name="Google Shape;299;p32"/>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0" name="Google Shape;300;p32"/>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301" name="Google Shape;301;p32"/>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2" name="Google Shape;302;p32"/>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3" name="Google Shape;303;p32"/>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4" name="Google Shape;304;p32"/>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5" name="Google Shape;305;p32"/>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6" name="Google Shape;306;p32"/>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7" name="Google Shape;307;p32"/>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8" name="Google Shape;308;p32"/>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9" name="Google Shape;309;p32"/>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2" name="Google Shape;312;p33"/>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3" name="Google Shape;313;p33"/>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4" name="Google Shape;314;p33"/>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15" name="Google Shape;315;p33"/>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16" name="Google Shape;316;p33"/>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7" name="Google Shape;317;p3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18" name="Google Shape;318;p33"/>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9" name="Google Shape;319;p33"/>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320" name="Google Shape;320;p33"/>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21" name="Google Shape;321;p3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22" name="Google Shape;322;p33"/>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323" name="Shape 323"/>
        <p:cNvGrpSpPr/>
        <p:nvPr/>
      </p:nvGrpSpPr>
      <p:grpSpPr>
        <a:xfrm>
          <a:off x="0" y="0"/>
          <a:ext cx="0" cy="0"/>
          <a:chOff x="0" y="0"/>
          <a:chExt cx="0" cy="0"/>
        </a:xfrm>
      </p:grpSpPr>
      <p:pic>
        <p:nvPicPr>
          <p:cNvPr id="324" name="Google Shape;324;p34"/>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25" name="Google Shape;325;p3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6" name="Google Shape;326;p34"/>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7" name="Google Shape;327;p34"/>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8" name="Google Shape;328;p34"/>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9" name="Google Shape;329;p34"/>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0" name="Google Shape;330;p34"/>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1" name="Google Shape;331;p34"/>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2" name="Google Shape;332;p34"/>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3" name="Google Shape;333;p34"/>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4" name="Google Shape;334;p34"/>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5" name="Google Shape;335;p34"/>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6" name="Google Shape;336;p34"/>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7" name="Google Shape;337;p3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8" name="Google Shape;338;p3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339" name="Shape 339"/>
        <p:cNvGrpSpPr/>
        <p:nvPr/>
      </p:nvGrpSpPr>
      <p:grpSpPr>
        <a:xfrm>
          <a:off x="0" y="0"/>
          <a:ext cx="0" cy="0"/>
          <a:chOff x="0" y="0"/>
          <a:chExt cx="0" cy="0"/>
        </a:xfrm>
      </p:grpSpPr>
      <p:sp>
        <p:nvSpPr>
          <p:cNvPr id="340" name="Google Shape;340;p35"/>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1" name="Google Shape;341;p35"/>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2" name="Google Shape;342;p35"/>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3" name="Google Shape;343;p35"/>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4" name="Google Shape;344;p35"/>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45" name="Google Shape;345;p35"/>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46" name="Google Shape;346;p35"/>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7" name="Google Shape;347;p35"/>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48" name="Google Shape;348;p35"/>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9" name="Google Shape;349;p35"/>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0" name="Google Shape;350;p3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51" name="Google Shape;351;p35"/>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2" name="Google Shape;352;p3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3" name="Google Shape;353;p35"/>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54" name="Shape 354"/>
        <p:cNvGrpSpPr/>
        <p:nvPr/>
      </p:nvGrpSpPr>
      <p:grpSpPr>
        <a:xfrm>
          <a:off x="0" y="0"/>
          <a:ext cx="0" cy="0"/>
          <a:chOff x="0" y="0"/>
          <a:chExt cx="0" cy="0"/>
        </a:xfrm>
      </p:grpSpPr>
      <p:sp>
        <p:nvSpPr>
          <p:cNvPr id="355" name="Google Shape;355;p36"/>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56" name="Google Shape;356;p36"/>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57" name="Google Shape;357;p3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8" name="Google Shape;358;p36"/>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59" name="Google Shape;359;p36"/>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60" name="Google Shape;360;p36"/>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61" name="Google Shape;361;p36"/>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2" name="Google Shape;362;p36"/>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3" name="Google Shape;363;p36"/>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64" name="Shape 364"/>
        <p:cNvGrpSpPr/>
        <p:nvPr/>
      </p:nvGrpSpPr>
      <p:grpSpPr>
        <a:xfrm>
          <a:off x="0" y="0"/>
          <a:ext cx="0" cy="0"/>
          <a:chOff x="0" y="0"/>
          <a:chExt cx="0" cy="0"/>
        </a:xfrm>
      </p:grpSpPr>
      <p:pic>
        <p:nvPicPr>
          <p:cNvPr id="365" name="Google Shape;365;p37"/>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66" name="Google Shape;366;p3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67" name="Google Shape;367;p37"/>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68" name="Google Shape;368;p37"/>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69" name="Google Shape;369;p37"/>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70" name="Google Shape;370;p37"/>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71" name="Google Shape;371;p3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2" name="Shape 372"/>
        <p:cNvGrpSpPr/>
        <p:nvPr/>
      </p:nvGrpSpPr>
      <p:grpSpPr>
        <a:xfrm>
          <a:off x="0" y="0"/>
          <a:ext cx="0" cy="0"/>
          <a:chOff x="0" y="0"/>
          <a:chExt cx="0" cy="0"/>
        </a:xfrm>
      </p:grpSpPr>
      <p:sp>
        <p:nvSpPr>
          <p:cNvPr id="373" name="Google Shape;373;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74" name="Shape 374"/>
        <p:cNvGrpSpPr/>
        <p:nvPr/>
      </p:nvGrpSpPr>
      <p:grpSpPr>
        <a:xfrm>
          <a:off x="0" y="0"/>
          <a:ext cx="0" cy="0"/>
          <a:chOff x="0" y="0"/>
          <a:chExt cx="0" cy="0"/>
        </a:xfrm>
      </p:grpSpPr>
      <p:sp>
        <p:nvSpPr>
          <p:cNvPr id="375" name="Google Shape;375;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6" name="Google Shape;376;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7" name="Shape 377"/>
        <p:cNvGrpSpPr/>
        <p:nvPr/>
      </p:nvGrpSpPr>
      <p:grpSpPr>
        <a:xfrm>
          <a:off x="0" y="0"/>
          <a:ext cx="0" cy="0"/>
          <a:chOff x="0" y="0"/>
          <a:chExt cx="0" cy="0"/>
        </a:xfrm>
      </p:grpSpPr>
      <p:sp>
        <p:nvSpPr>
          <p:cNvPr id="378" name="Google Shape;37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9" name="Google Shape;379;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3" name="Shape 383"/>
        <p:cNvGrpSpPr/>
        <p:nvPr/>
      </p:nvGrpSpPr>
      <p:grpSpPr>
        <a:xfrm>
          <a:off x="0" y="0"/>
          <a:ext cx="0" cy="0"/>
          <a:chOff x="0" y="0"/>
          <a:chExt cx="0" cy="0"/>
        </a:xfrm>
      </p:grpSpPr>
      <p:sp>
        <p:nvSpPr>
          <p:cNvPr id="384" name="Google Shape;384;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85" name="Google Shape;385;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6" name="Shape 386"/>
        <p:cNvGrpSpPr/>
        <p:nvPr/>
      </p:nvGrpSpPr>
      <p:grpSpPr>
        <a:xfrm>
          <a:off x="0" y="0"/>
          <a:ext cx="0" cy="0"/>
          <a:chOff x="0" y="0"/>
          <a:chExt cx="0" cy="0"/>
        </a:xfrm>
      </p:grpSpPr>
      <p:sp>
        <p:nvSpPr>
          <p:cNvPr id="387" name="Google Shape;387;p43"/>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8" name="Google Shape;388;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9" name="Google Shape;389;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0" name="Shape 390"/>
        <p:cNvGrpSpPr/>
        <p:nvPr/>
      </p:nvGrpSpPr>
      <p:grpSpPr>
        <a:xfrm>
          <a:off x="0" y="0"/>
          <a:ext cx="0" cy="0"/>
          <a:chOff x="0" y="0"/>
          <a:chExt cx="0" cy="0"/>
        </a:xfrm>
      </p:grpSpPr>
      <p:sp>
        <p:nvSpPr>
          <p:cNvPr id="391" name="Google Shape;39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2" name="Shape 392"/>
        <p:cNvGrpSpPr/>
        <p:nvPr/>
      </p:nvGrpSpPr>
      <p:grpSpPr>
        <a:xfrm>
          <a:off x="0" y="0"/>
          <a:ext cx="0" cy="0"/>
          <a:chOff x="0" y="0"/>
          <a:chExt cx="0" cy="0"/>
        </a:xfrm>
      </p:grpSpPr>
      <p:sp>
        <p:nvSpPr>
          <p:cNvPr id="393" name="Google Shape;393;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94" name="Google Shape;394;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5" name="Shape 395"/>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6" name="Shape 396"/>
        <p:cNvGrpSpPr/>
        <p:nvPr/>
      </p:nvGrpSpPr>
      <p:grpSpPr>
        <a:xfrm>
          <a:off x="0" y="0"/>
          <a:ext cx="0" cy="0"/>
          <a:chOff x="0" y="0"/>
          <a:chExt cx="0" cy="0"/>
        </a:xfrm>
      </p:grpSpPr>
      <p:sp>
        <p:nvSpPr>
          <p:cNvPr id="397" name="Google Shape;397;p47"/>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8" name="Google Shape;398;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4" name="Shape 404"/>
        <p:cNvGrpSpPr/>
        <p:nvPr/>
      </p:nvGrpSpPr>
      <p:grpSpPr>
        <a:xfrm>
          <a:off x="0" y="0"/>
          <a:ext cx="0" cy="0"/>
          <a:chOff x="0" y="0"/>
          <a:chExt cx="0" cy="0"/>
        </a:xfrm>
      </p:grpSpPr>
      <p:sp>
        <p:nvSpPr>
          <p:cNvPr id="405" name="Google Shape;405;p4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7" name="Google Shape;407;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8" name="Shape 408"/>
        <p:cNvGrpSpPr/>
        <p:nvPr/>
      </p:nvGrpSpPr>
      <p:grpSpPr>
        <a:xfrm>
          <a:off x="0" y="0"/>
          <a:ext cx="0" cy="0"/>
          <a:chOff x="0" y="0"/>
          <a:chExt cx="0" cy="0"/>
        </a:xfrm>
      </p:grpSpPr>
      <p:sp>
        <p:nvSpPr>
          <p:cNvPr id="409" name="Google Shape;409;p49"/>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0" name="Google Shape;410;p4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4" name="Shape 414"/>
        <p:cNvGrpSpPr/>
        <p:nvPr/>
      </p:nvGrpSpPr>
      <p:grpSpPr>
        <a:xfrm>
          <a:off x="0" y="0"/>
          <a:ext cx="0" cy="0"/>
          <a:chOff x="0" y="0"/>
          <a:chExt cx="0" cy="0"/>
        </a:xfrm>
      </p:grpSpPr>
      <p:sp>
        <p:nvSpPr>
          <p:cNvPr id="415" name="Google Shape;415;p5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6" name="Google Shape;4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8" name="Google Shape;418;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1" name="Google Shape;421;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2" name="Shape 422"/>
        <p:cNvGrpSpPr/>
        <p:nvPr/>
      </p:nvGrpSpPr>
      <p:grpSpPr>
        <a:xfrm>
          <a:off x="0" y="0"/>
          <a:ext cx="0" cy="0"/>
          <a:chOff x="0" y="0"/>
          <a:chExt cx="0" cy="0"/>
        </a:xfrm>
      </p:grpSpPr>
      <p:sp>
        <p:nvSpPr>
          <p:cNvPr id="423" name="Google Shape;423;p5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4" name="Google Shape;424;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5" name="Google Shape;425;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6" name="Google Shape;426;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7" name="Google Shape;427;p51"/>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28" name="Google Shape;428;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2" name="Shape 432"/>
        <p:cNvGrpSpPr/>
        <p:nvPr/>
      </p:nvGrpSpPr>
      <p:grpSpPr>
        <a:xfrm>
          <a:off x="0" y="0"/>
          <a:ext cx="0" cy="0"/>
          <a:chOff x="0" y="0"/>
          <a:chExt cx="0" cy="0"/>
        </a:xfrm>
      </p:grpSpPr>
      <p:sp>
        <p:nvSpPr>
          <p:cNvPr id="433" name="Google Shape;433;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4" name="Google Shape;434;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5" name="Shape 435"/>
        <p:cNvGrpSpPr/>
        <p:nvPr/>
      </p:nvGrpSpPr>
      <p:grpSpPr>
        <a:xfrm>
          <a:off x="0" y="0"/>
          <a:ext cx="0" cy="0"/>
          <a:chOff x="0" y="0"/>
          <a:chExt cx="0" cy="0"/>
        </a:xfrm>
      </p:grpSpPr>
      <p:sp>
        <p:nvSpPr>
          <p:cNvPr id="436" name="Google Shape;436;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7" name="Google Shape;437;p53"/>
          <p:cNvSpPr/>
          <p:nvPr>
            <p:ph idx="2" type="pic"/>
          </p:nvPr>
        </p:nvSpPr>
        <p:spPr>
          <a:xfrm>
            <a:off x="4804825" y="1133300"/>
            <a:ext cx="4027500" cy="2392800"/>
          </a:xfrm>
          <a:prstGeom prst="rect">
            <a:avLst/>
          </a:prstGeom>
          <a:noFill/>
          <a:ln>
            <a:noFill/>
          </a:ln>
        </p:spPr>
      </p:sp>
      <p:sp>
        <p:nvSpPr>
          <p:cNvPr id="438" name="Google Shape;438;p53"/>
          <p:cNvSpPr/>
          <p:nvPr>
            <p:ph idx="3" type="pic"/>
          </p:nvPr>
        </p:nvSpPr>
        <p:spPr>
          <a:xfrm>
            <a:off x="311725" y="1133300"/>
            <a:ext cx="4027500" cy="2392800"/>
          </a:xfrm>
          <a:prstGeom prst="rect">
            <a:avLst/>
          </a:prstGeom>
          <a:noFill/>
          <a:ln>
            <a:noFill/>
          </a:ln>
        </p:spPr>
      </p:sp>
      <p:sp>
        <p:nvSpPr>
          <p:cNvPr id="439" name="Google Shape;439;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1" name="Google Shape;441;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2" name="Google Shape;442;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3" name="Shape 443"/>
        <p:cNvGrpSpPr/>
        <p:nvPr/>
      </p:nvGrpSpPr>
      <p:grpSpPr>
        <a:xfrm>
          <a:off x="0" y="0"/>
          <a:ext cx="0" cy="0"/>
          <a:chOff x="0" y="0"/>
          <a:chExt cx="0" cy="0"/>
        </a:xfrm>
      </p:grpSpPr>
      <p:sp>
        <p:nvSpPr>
          <p:cNvPr id="444" name="Google Shape;444;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5" name="Google Shape;445;p54"/>
          <p:cNvSpPr/>
          <p:nvPr>
            <p:ph idx="2" type="pic"/>
          </p:nvPr>
        </p:nvSpPr>
        <p:spPr>
          <a:xfrm>
            <a:off x="6205225" y="1128325"/>
            <a:ext cx="2627100" cy="2273100"/>
          </a:xfrm>
          <a:prstGeom prst="rect">
            <a:avLst/>
          </a:prstGeom>
          <a:noFill/>
          <a:ln>
            <a:noFill/>
          </a:ln>
        </p:spPr>
      </p:sp>
      <p:sp>
        <p:nvSpPr>
          <p:cNvPr id="446" name="Google Shape;446;p54"/>
          <p:cNvSpPr/>
          <p:nvPr>
            <p:ph idx="3" type="pic"/>
          </p:nvPr>
        </p:nvSpPr>
        <p:spPr>
          <a:xfrm>
            <a:off x="311725" y="1128325"/>
            <a:ext cx="2627100" cy="2273100"/>
          </a:xfrm>
          <a:prstGeom prst="rect">
            <a:avLst/>
          </a:prstGeom>
          <a:noFill/>
          <a:ln>
            <a:noFill/>
          </a:ln>
        </p:spPr>
      </p:sp>
      <p:sp>
        <p:nvSpPr>
          <p:cNvPr id="447" name="Google Shape;447;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8" name="Google Shape;448;p54"/>
          <p:cNvSpPr/>
          <p:nvPr>
            <p:ph idx="5" type="pic"/>
          </p:nvPr>
        </p:nvSpPr>
        <p:spPr>
          <a:xfrm>
            <a:off x="3255250" y="1128325"/>
            <a:ext cx="2627100" cy="2273100"/>
          </a:xfrm>
          <a:prstGeom prst="rect">
            <a:avLst/>
          </a:prstGeom>
          <a:noFill/>
          <a:ln>
            <a:noFill/>
          </a:ln>
        </p:spPr>
      </p:sp>
      <p:sp>
        <p:nvSpPr>
          <p:cNvPr id="449" name="Google Shape;449;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0" name="Google Shape;450;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1" name="Google Shape;451;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2" name="Google Shape;452;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4" name="Shape 454"/>
        <p:cNvGrpSpPr/>
        <p:nvPr/>
      </p:nvGrpSpPr>
      <p:grpSpPr>
        <a:xfrm>
          <a:off x="0" y="0"/>
          <a:ext cx="0" cy="0"/>
          <a:chOff x="0" y="0"/>
          <a:chExt cx="0" cy="0"/>
        </a:xfrm>
      </p:grpSpPr>
      <p:sp>
        <p:nvSpPr>
          <p:cNvPr id="455" name="Google Shape;455;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6" name="Shape 456"/>
        <p:cNvGrpSpPr/>
        <p:nvPr/>
      </p:nvGrpSpPr>
      <p:grpSpPr>
        <a:xfrm>
          <a:off x="0" y="0"/>
          <a:ext cx="0" cy="0"/>
          <a:chOff x="0" y="0"/>
          <a:chExt cx="0" cy="0"/>
        </a:xfrm>
      </p:grpSpPr>
      <p:sp>
        <p:nvSpPr>
          <p:cNvPr id="457" name="Google Shape;457;p56"/>
          <p:cNvSpPr/>
          <p:nvPr>
            <p:ph idx="2" type="pic"/>
          </p:nvPr>
        </p:nvSpPr>
        <p:spPr>
          <a:xfrm>
            <a:off x="3389600" y="118913"/>
            <a:ext cx="1643700" cy="1535100"/>
          </a:xfrm>
          <a:prstGeom prst="rect">
            <a:avLst/>
          </a:prstGeom>
          <a:noFill/>
          <a:ln>
            <a:noFill/>
          </a:ln>
        </p:spPr>
      </p:sp>
      <p:sp>
        <p:nvSpPr>
          <p:cNvPr id="458" name="Google Shape;458;p56"/>
          <p:cNvSpPr/>
          <p:nvPr>
            <p:ph idx="3" type="pic"/>
          </p:nvPr>
        </p:nvSpPr>
        <p:spPr>
          <a:xfrm>
            <a:off x="5195935" y="118913"/>
            <a:ext cx="1643700" cy="1535100"/>
          </a:xfrm>
          <a:prstGeom prst="rect">
            <a:avLst/>
          </a:prstGeom>
          <a:noFill/>
          <a:ln>
            <a:noFill/>
          </a:ln>
        </p:spPr>
      </p:sp>
      <p:sp>
        <p:nvSpPr>
          <p:cNvPr id="459" name="Google Shape;459;p56"/>
          <p:cNvSpPr/>
          <p:nvPr>
            <p:ph idx="4" type="pic"/>
          </p:nvPr>
        </p:nvSpPr>
        <p:spPr>
          <a:xfrm>
            <a:off x="7002270" y="118913"/>
            <a:ext cx="1643700" cy="1535100"/>
          </a:xfrm>
          <a:prstGeom prst="rect">
            <a:avLst/>
          </a:prstGeom>
          <a:noFill/>
          <a:ln>
            <a:noFill/>
          </a:ln>
        </p:spPr>
      </p:sp>
      <p:sp>
        <p:nvSpPr>
          <p:cNvPr id="460" name="Google Shape;460;p56"/>
          <p:cNvSpPr/>
          <p:nvPr>
            <p:ph idx="5" type="pic"/>
          </p:nvPr>
        </p:nvSpPr>
        <p:spPr>
          <a:xfrm>
            <a:off x="3389588" y="1804212"/>
            <a:ext cx="1643700" cy="1535100"/>
          </a:xfrm>
          <a:prstGeom prst="rect">
            <a:avLst/>
          </a:prstGeom>
          <a:noFill/>
          <a:ln>
            <a:noFill/>
          </a:ln>
        </p:spPr>
      </p:sp>
      <p:sp>
        <p:nvSpPr>
          <p:cNvPr id="461" name="Google Shape;461;p56"/>
          <p:cNvSpPr/>
          <p:nvPr>
            <p:ph idx="6" type="pic"/>
          </p:nvPr>
        </p:nvSpPr>
        <p:spPr>
          <a:xfrm>
            <a:off x="5195922" y="1804212"/>
            <a:ext cx="1643700" cy="1535100"/>
          </a:xfrm>
          <a:prstGeom prst="rect">
            <a:avLst/>
          </a:prstGeom>
          <a:noFill/>
          <a:ln>
            <a:noFill/>
          </a:ln>
        </p:spPr>
      </p:sp>
      <p:sp>
        <p:nvSpPr>
          <p:cNvPr id="462" name="Google Shape;462;p56"/>
          <p:cNvSpPr/>
          <p:nvPr>
            <p:ph idx="7" type="pic"/>
          </p:nvPr>
        </p:nvSpPr>
        <p:spPr>
          <a:xfrm>
            <a:off x="7002257" y="1804212"/>
            <a:ext cx="1643700" cy="1535100"/>
          </a:xfrm>
          <a:prstGeom prst="rect">
            <a:avLst/>
          </a:prstGeom>
          <a:noFill/>
          <a:ln>
            <a:noFill/>
          </a:ln>
        </p:spPr>
      </p:sp>
      <p:sp>
        <p:nvSpPr>
          <p:cNvPr id="463" name="Google Shape;463;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4" name="Google Shape;464;p56"/>
          <p:cNvSpPr/>
          <p:nvPr>
            <p:ph idx="8" type="pic"/>
          </p:nvPr>
        </p:nvSpPr>
        <p:spPr>
          <a:xfrm>
            <a:off x="3389588" y="3489487"/>
            <a:ext cx="1643700" cy="1535100"/>
          </a:xfrm>
          <a:prstGeom prst="rect">
            <a:avLst/>
          </a:prstGeom>
          <a:noFill/>
          <a:ln>
            <a:noFill/>
          </a:ln>
        </p:spPr>
      </p:sp>
      <p:sp>
        <p:nvSpPr>
          <p:cNvPr id="465" name="Google Shape;465;p56"/>
          <p:cNvSpPr/>
          <p:nvPr>
            <p:ph idx="9" type="pic"/>
          </p:nvPr>
        </p:nvSpPr>
        <p:spPr>
          <a:xfrm>
            <a:off x="5195922" y="3489487"/>
            <a:ext cx="1643700" cy="1535100"/>
          </a:xfrm>
          <a:prstGeom prst="rect">
            <a:avLst/>
          </a:prstGeom>
          <a:noFill/>
          <a:ln>
            <a:noFill/>
          </a:ln>
        </p:spPr>
      </p:sp>
      <p:sp>
        <p:nvSpPr>
          <p:cNvPr id="466" name="Google Shape;466;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2.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52" name="Google Shape;52;p13"/>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53" name="Google Shape;53;p13"/>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7"/>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Chinese Poetry Translation</a:t>
            </a:r>
            <a:endParaRPr/>
          </a:p>
          <a:p>
            <a:pPr indent="0" lvl="0" marL="0" rtl="0" algn="ctr">
              <a:spcBef>
                <a:spcPts val="0"/>
              </a:spcBef>
              <a:spcAft>
                <a:spcPts val="0"/>
              </a:spcAft>
              <a:buNone/>
            </a:pPr>
            <a:r>
              <a:t/>
            </a:r>
            <a:endParaRPr/>
          </a:p>
        </p:txBody>
      </p:sp>
      <p:sp>
        <p:nvSpPr>
          <p:cNvPr id="472" name="Google Shape;472;p57"/>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Emma Huang, Juqy Chen</a:t>
            </a:r>
            <a:endParaRPr/>
          </a:p>
        </p:txBody>
      </p:sp>
      <p:sp>
        <p:nvSpPr>
          <p:cNvPr id="473" name="Google Shape;473;p57"/>
          <p:cNvSpPr/>
          <p:nvPr/>
        </p:nvSpPr>
        <p:spPr>
          <a:xfrm>
            <a:off x="3110124" y="3654225"/>
            <a:ext cx="7671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ECE 175B</a:t>
            </a:r>
            <a:endParaRPr sz="1000">
              <a:solidFill>
                <a:schemeClr val="dk2"/>
              </a:solidFill>
              <a:latin typeface="Nunito Sans SemiBold"/>
              <a:ea typeface="Nunito Sans SemiBold"/>
              <a:cs typeface="Nunito Sans SemiBold"/>
              <a:sym typeface="Nunito Sans SemiBold"/>
            </a:endParaRPr>
          </a:p>
        </p:txBody>
      </p:sp>
      <p:sp>
        <p:nvSpPr>
          <p:cNvPr id="474" name="Google Shape;474;p57"/>
          <p:cNvSpPr/>
          <p:nvPr/>
        </p:nvSpPr>
        <p:spPr>
          <a:xfrm>
            <a:off x="3914431" y="3654225"/>
            <a:ext cx="10776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Spring 2026</a:t>
            </a:r>
            <a:endParaRPr sz="1000">
              <a:solidFill>
                <a:schemeClr val="dk2"/>
              </a:solidFill>
              <a:latin typeface="Nunito Sans SemiBold"/>
              <a:ea typeface="Nunito Sans SemiBold"/>
              <a:cs typeface="Nunito Sans SemiBold"/>
              <a:sym typeface="Nunito Sans SemiBold"/>
            </a:endParaRPr>
          </a:p>
        </p:txBody>
      </p:sp>
      <p:sp>
        <p:nvSpPr>
          <p:cNvPr id="475" name="Google Shape;475;p57"/>
          <p:cNvSpPr/>
          <p:nvPr/>
        </p:nvSpPr>
        <p:spPr>
          <a:xfrm>
            <a:off x="5042975" y="3654225"/>
            <a:ext cx="990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Sans SemiBold"/>
                <a:ea typeface="Nunito Sans SemiBold"/>
                <a:cs typeface="Nunito Sans SemiBold"/>
                <a:sym typeface="Nunito Sans SemiBold"/>
              </a:rPr>
              <a:t>Prof. Xie</a:t>
            </a:r>
            <a:endParaRPr sz="1000">
              <a:solidFill>
                <a:schemeClr val="dk2"/>
              </a:solidFill>
              <a:latin typeface="Nunito Sans SemiBold"/>
              <a:ea typeface="Nunito Sans SemiBold"/>
              <a:cs typeface="Nunito Sans SemiBold"/>
              <a:sym typeface="Nunito Sans SemiBold"/>
            </a:endParaRPr>
          </a:p>
        </p:txBody>
      </p:sp>
      <p:sp>
        <p:nvSpPr>
          <p:cNvPr id="476" name="Google Shape;476;p57"/>
          <p:cNvSpPr/>
          <p:nvPr/>
        </p:nvSpPr>
        <p:spPr>
          <a:xfrm rot="-395291">
            <a:off x="3110326" y="3199308"/>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77" name="Google Shape;477;p57"/>
          <p:cNvSpPr/>
          <p:nvPr/>
        </p:nvSpPr>
        <p:spPr>
          <a:xfrm rot="-509448">
            <a:off x="4276371" y="3322374"/>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txBox="1"/>
          <p:nvPr>
            <p:ph type="title"/>
          </p:nvPr>
        </p:nvSpPr>
        <p:spPr>
          <a:xfrm>
            <a:off x="228600" y="2571750"/>
            <a:ext cx="4803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Motivation</a:t>
            </a:r>
            <a:endParaRPr sz="2400"/>
          </a:p>
        </p:txBody>
      </p:sp>
      <p:sp>
        <p:nvSpPr>
          <p:cNvPr id="483" name="Google Shape;483;p58"/>
          <p:cNvSpPr txBox="1"/>
          <p:nvPr>
            <p:ph type="title"/>
          </p:nvPr>
        </p:nvSpPr>
        <p:spPr>
          <a:xfrm>
            <a:off x="228600" y="256925"/>
            <a:ext cx="4803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Problem</a:t>
            </a:r>
            <a:endParaRPr sz="2400"/>
          </a:p>
        </p:txBody>
      </p:sp>
      <p:grpSp>
        <p:nvGrpSpPr>
          <p:cNvPr id="484" name="Google Shape;484;p58"/>
          <p:cNvGrpSpPr/>
          <p:nvPr/>
        </p:nvGrpSpPr>
        <p:grpSpPr>
          <a:xfrm>
            <a:off x="1739948" y="362385"/>
            <a:ext cx="543525" cy="265250"/>
            <a:chOff x="3195113" y="380063"/>
            <a:chExt cx="543525" cy="265250"/>
          </a:xfrm>
        </p:grpSpPr>
        <p:cxnSp>
          <p:nvCxnSpPr>
            <p:cNvPr id="485" name="Google Shape;485;p58"/>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486" name="Google Shape;486;p58"/>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487" name="Google Shape;487;p58"/>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grpSp>
        <p:nvGrpSpPr>
          <p:cNvPr id="488" name="Google Shape;488;p58"/>
          <p:cNvGrpSpPr/>
          <p:nvPr/>
        </p:nvGrpSpPr>
        <p:grpSpPr>
          <a:xfrm>
            <a:off x="2117955" y="2681346"/>
            <a:ext cx="543525" cy="265250"/>
            <a:chOff x="3195113" y="380063"/>
            <a:chExt cx="543525" cy="265250"/>
          </a:xfrm>
        </p:grpSpPr>
        <p:cxnSp>
          <p:nvCxnSpPr>
            <p:cNvPr id="489" name="Google Shape;489;p58"/>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490" name="Google Shape;490;p58"/>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491" name="Google Shape;491;p58"/>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492" name="Google Shape;492;p58"/>
          <p:cNvSpPr txBox="1"/>
          <p:nvPr/>
        </p:nvSpPr>
        <p:spPr>
          <a:xfrm>
            <a:off x="366725" y="1010404"/>
            <a:ext cx="8093700" cy="126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Sans"/>
                <a:ea typeface="Nunito Sans"/>
                <a:cs typeface="Nunito Sans"/>
                <a:sym typeface="Nunito Sans"/>
              </a:rPr>
              <a:t>We aim to solve the problem of efficient and high-quality English translations of classical Chinese poetry with small or medium sized models. The challenge is not only to preserve the poem’s literal meaning, but also to retain its cultural references, imagery, conciseness, and poetic style in English. Our project studies whether parameter-efficient fine tuning can make compact models competitive on this task.</a:t>
            </a:r>
            <a:endParaRPr>
              <a:solidFill>
                <a:schemeClr val="dk1"/>
              </a:solidFill>
              <a:latin typeface="Nunito Sans"/>
              <a:ea typeface="Nunito Sans"/>
              <a:cs typeface="Nunito Sans"/>
              <a:sym typeface="Nunito Sans"/>
            </a:endParaRPr>
          </a:p>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3" name="Google Shape;493;p58"/>
          <p:cNvSpPr txBox="1"/>
          <p:nvPr/>
        </p:nvSpPr>
        <p:spPr>
          <a:xfrm>
            <a:off x="366725" y="3243900"/>
            <a:ext cx="7477500" cy="132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Sans"/>
                <a:ea typeface="Nunito Sans"/>
                <a:cs typeface="Nunito Sans"/>
                <a:sym typeface="Nunito Sans"/>
              </a:rPr>
              <a:t>This project is significant because it provides a scalable, low-compute framework for Chinese poetry translation. If successful, this methodology could be easily adapted to other low-resource or highly stylized translation tasks, such as translating ancient prose, religious texts, or indigenous storytelling.</a:t>
            </a:r>
            <a:endParaRPr>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9"/>
          <p:cNvSpPr txBox="1"/>
          <p:nvPr>
            <p:ph type="title"/>
          </p:nvPr>
        </p:nvSpPr>
        <p:spPr>
          <a:xfrm>
            <a:off x="311700" y="4450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800"/>
              <a:t>Dataset</a:t>
            </a:r>
            <a:endParaRPr sz="2800"/>
          </a:p>
        </p:txBody>
      </p:sp>
      <p:sp>
        <p:nvSpPr>
          <p:cNvPr id="499" name="Google Shape;499;p59"/>
          <p:cNvSpPr txBox="1"/>
          <p:nvPr/>
        </p:nvSpPr>
        <p:spPr>
          <a:xfrm>
            <a:off x="409300" y="1017725"/>
            <a:ext cx="5580000" cy="38826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b="1" lang="en" sz="1600">
                <a:solidFill>
                  <a:srgbClr val="FFFFFF"/>
                </a:solidFill>
                <a:latin typeface="Nunito Sans"/>
                <a:ea typeface="Nunito Sans"/>
                <a:cs typeface="Nunito Sans"/>
                <a:sym typeface="Nunito Sans"/>
              </a:rPr>
              <a:t>Sources: </a:t>
            </a:r>
            <a:r>
              <a:rPr lang="en" sz="1600">
                <a:solidFill>
                  <a:srgbClr val="FFFFFF"/>
                </a:solidFill>
                <a:latin typeface="Nunito Sans"/>
                <a:ea typeface="Nunito Sans"/>
                <a:cs typeface="Nunito Sans"/>
                <a:sym typeface="Nunito Sans"/>
              </a:rPr>
              <a:t>PoetMT (classical poem to English pairs) and CCPM (classical-poetry comprehension), merged into one corpus.</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rPr b="1" lang="en" sz="1600">
                <a:solidFill>
                  <a:srgbClr val="FFFFFF"/>
                </a:solidFill>
                <a:latin typeface="Nunito Sans"/>
                <a:ea typeface="Nunito Sans"/>
                <a:cs typeface="Nunito Sans"/>
                <a:sym typeface="Nunito Sans"/>
              </a:rPr>
              <a:t>Preprocessing: </a:t>
            </a:r>
            <a:r>
              <a:rPr lang="en" sz="1600">
                <a:solidFill>
                  <a:srgbClr val="FFFFFF"/>
                </a:solidFill>
                <a:latin typeface="Nunito Sans"/>
                <a:ea typeface="Nunito Sans"/>
                <a:cs typeface="Nunito Sans"/>
                <a:sym typeface="Nunito Sans"/>
              </a:rPr>
              <a:t>kept only translation pairs, capped English length at 2000 characters, and removed duplicate / malformed rows.</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rPr b="1" lang="en" sz="1600">
                <a:solidFill>
                  <a:srgbClr val="FFFFFF"/>
                </a:solidFill>
                <a:latin typeface="Nunito Sans"/>
                <a:ea typeface="Nunito Sans"/>
                <a:cs typeface="Nunito Sans"/>
                <a:sym typeface="Nunito Sans"/>
              </a:rPr>
              <a:t>Split (poems): </a:t>
            </a:r>
            <a:r>
              <a:rPr lang="en" sz="1600">
                <a:solidFill>
                  <a:srgbClr val="FFFFFF"/>
                </a:solidFill>
                <a:latin typeface="Nunito Sans"/>
                <a:ea typeface="Nunito Sans"/>
                <a:cs typeface="Nunito Sans"/>
                <a:sym typeface="Nunito Sans"/>
              </a:rPr>
              <a:t>621 train / 68 validation / 78 test. Test and validation data only contains translations.</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sz="16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rPr b="1" lang="en" sz="1600">
                <a:solidFill>
                  <a:srgbClr val="FFFFFF"/>
                </a:solidFill>
                <a:latin typeface="Nunito Sans"/>
                <a:ea typeface="Nunito Sans"/>
                <a:cs typeface="Nunito Sans"/>
                <a:sym typeface="Nunito Sans"/>
              </a:rPr>
              <a:t>Leakage control: </a:t>
            </a:r>
            <a:r>
              <a:rPr lang="en" sz="1600">
                <a:solidFill>
                  <a:srgbClr val="FFFFFF"/>
                </a:solidFill>
                <a:latin typeface="Nunito Sans"/>
                <a:ea typeface="Nunito Sans"/>
                <a:cs typeface="Nunito Sans"/>
                <a:sym typeface="Nunito Sans"/>
              </a:rPr>
              <a:t>a fixed 78-poem canonical test set, shared by every model; verified that no test poem appears in training.</a:t>
            </a:r>
            <a:endParaRPr sz="1600">
              <a:solidFill>
                <a:srgbClr val="FFFFFF"/>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0"/>
          <p:cNvSpPr txBox="1"/>
          <p:nvPr>
            <p:ph idx="6" type="title"/>
          </p:nvPr>
        </p:nvSpPr>
        <p:spPr>
          <a:xfrm>
            <a:off x="311700" y="445025"/>
            <a:ext cx="8520600" cy="46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Method</a:t>
            </a:r>
            <a:r>
              <a:rPr lang="en" sz="2400"/>
              <a:t>:</a:t>
            </a:r>
            <a:endParaRPr sz="2400"/>
          </a:p>
          <a:p>
            <a:pPr indent="0" lvl="0" marL="0" rtl="0" algn="l">
              <a:spcBef>
                <a:spcPts val="0"/>
              </a:spcBef>
              <a:spcAft>
                <a:spcPts val="0"/>
              </a:spcAft>
              <a:buNone/>
            </a:pPr>
            <a:r>
              <a:t/>
            </a:r>
            <a:endParaRPr/>
          </a:p>
        </p:txBody>
      </p:sp>
      <p:sp>
        <p:nvSpPr>
          <p:cNvPr id="505" name="Google Shape;505;p60"/>
          <p:cNvSpPr txBox="1"/>
          <p:nvPr/>
        </p:nvSpPr>
        <p:spPr>
          <a:xfrm>
            <a:off x="409300" y="1017725"/>
            <a:ext cx="6393600" cy="38826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sz="1800">
                <a:solidFill>
                  <a:schemeClr val="dk1"/>
                </a:solidFill>
                <a:latin typeface="Nunito Sans"/>
                <a:ea typeface="Nunito Sans"/>
                <a:cs typeface="Nunito Sans"/>
                <a:sym typeface="Nunito Sans"/>
              </a:rPr>
              <a:t>Qwen2.5-1.5B-Instruct</a:t>
            </a:r>
            <a:r>
              <a:rPr lang="en" sz="1800">
                <a:solidFill>
                  <a:schemeClr val="dk1"/>
                </a:solidFill>
                <a:latin typeface="Nunito Sans"/>
                <a:ea typeface="Nunito Sans"/>
                <a:cs typeface="Nunito Sans"/>
                <a:sym typeface="Nunito Sans"/>
              </a:rPr>
              <a:t> (Decoder-Only): Our first method uses a lightweight decoder-only model. We utilize the Instruct variant more suitable for translation tasks. By applying QLoRA, we can perform stylistic fine-tuning of the literal translation to elegant English verse.</a:t>
            </a:r>
            <a:endParaRPr sz="1800">
              <a:solidFill>
                <a:schemeClr val="dk1"/>
              </a:solidFill>
              <a:latin typeface="Nunito Sans"/>
              <a:ea typeface="Nunito Sans"/>
              <a:cs typeface="Nunito Sans"/>
              <a:sym typeface="Nunito Sans"/>
            </a:endParaRPr>
          </a:p>
          <a:p>
            <a:pPr indent="0" lvl="0" marL="0" rtl="0" algn="l">
              <a:spcBef>
                <a:spcPts val="0"/>
              </a:spcBef>
              <a:spcAft>
                <a:spcPts val="0"/>
              </a:spcAft>
              <a:buNone/>
            </a:pPr>
            <a:r>
              <a:rPr lang="en" sz="1800">
                <a:solidFill>
                  <a:schemeClr val="dk1"/>
                </a:solidFill>
                <a:latin typeface="Nunito Sans"/>
                <a:ea typeface="Nunito Sans"/>
                <a:cs typeface="Nunito Sans"/>
                <a:sym typeface="Nunito Sans"/>
              </a:rPr>
              <a:t> </a:t>
            </a:r>
            <a:endParaRPr sz="1800">
              <a:solidFill>
                <a:schemeClr val="dk1"/>
              </a:solidFill>
              <a:latin typeface="Nunito Sans"/>
              <a:ea typeface="Nunito Sans"/>
              <a:cs typeface="Nunito Sans"/>
              <a:sym typeface="Nunito Sans"/>
            </a:endParaRPr>
          </a:p>
          <a:p>
            <a:pPr indent="0" lvl="0" marL="0" rtl="0" algn="l">
              <a:spcBef>
                <a:spcPts val="0"/>
              </a:spcBef>
              <a:spcAft>
                <a:spcPts val="0"/>
              </a:spcAft>
              <a:buNone/>
            </a:pPr>
            <a:r>
              <a:rPr b="1" lang="en" sz="1800">
                <a:solidFill>
                  <a:schemeClr val="dk1"/>
                </a:solidFill>
                <a:latin typeface="Nunito Sans"/>
                <a:ea typeface="Nunito Sans"/>
                <a:cs typeface="Nunito Sans"/>
                <a:sym typeface="Nunito Sans"/>
              </a:rPr>
              <a:t>Qwen2.5-0.5B-Instruct </a:t>
            </a:r>
            <a:r>
              <a:rPr lang="en" sz="1800">
                <a:solidFill>
                  <a:schemeClr val="dk1"/>
                </a:solidFill>
                <a:latin typeface="Nunito Sans"/>
                <a:ea typeface="Nunito Sans"/>
                <a:cs typeface="Nunito Sans"/>
                <a:sym typeface="Nunito Sans"/>
              </a:rPr>
              <a:t>(Decoder-Only): We utilized a smaller model of Qwen to test the capabilities of </a:t>
            </a:r>
            <a:r>
              <a:rPr lang="en" sz="1800">
                <a:solidFill>
                  <a:schemeClr val="dk1"/>
                </a:solidFill>
                <a:latin typeface="Nunito Sans"/>
                <a:ea typeface="Nunito Sans"/>
                <a:cs typeface="Nunito Sans"/>
                <a:sym typeface="Nunito Sans"/>
              </a:rPr>
              <a:t>LoRA/QLoRA improve performance on small and light weight models. </a:t>
            </a:r>
            <a:endParaRPr sz="1800">
              <a:solidFill>
                <a:schemeClr val="dk1"/>
              </a:solidFill>
              <a:latin typeface="Nunito Sans"/>
              <a:ea typeface="Nunito Sans"/>
              <a:cs typeface="Nunito Sans"/>
              <a:sym typeface="Nunito Sans"/>
            </a:endParaRPr>
          </a:p>
          <a:p>
            <a:pPr indent="0" lvl="0" marL="0" rtl="0" algn="l">
              <a:spcBef>
                <a:spcPts val="0"/>
              </a:spcBef>
              <a:spcAft>
                <a:spcPts val="0"/>
              </a:spcAft>
              <a:buNone/>
            </a:pPr>
            <a:r>
              <a:t/>
            </a:r>
            <a:endParaRPr sz="1800">
              <a:solidFill>
                <a:schemeClr val="dk1"/>
              </a:solidFill>
              <a:latin typeface="Nunito Sans"/>
              <a:ea typeface="Nunito Sans"/>
              <a:cs typeface="Nunito Sans"/>
              <a:sym typeface="Nunito Sans"/>
            </a:endParaRPr>
          </a:p>
          <a:p>
            <a:pPr indent="0" lvl="0" marL="0" rtl="0" algn="l">
              <a:lnSpc>
                <a:spcPct val="115000"/>
              </a:lnSpc>
              <a:spcBef>
                <a:spcPts val="0"/>
              </a:spcBef>
              <a:spcAft>
                <a:spcPts val="0"/>
              </a:spcAft>
              <a:buNone/>
            </a:pPr>
            <a:r>
              <a:rPr b="1" lang="en" sz="1800">
                <a:solidFill>
                  <a:srgbClr val="FFFFFF"/>
                </a:solidFill>
                <a:latin typeface="Nunito Sans"/>
                <a:ea typeface="Nunito Sans"/>
                <a:cs typeface="Nunito Sans"/>
                <a:sym typeface="Nunito Sans"/>
              </a:rPr>
              <a:t>mT5-base</a:t>
            </a:r>
            <a:r>
              <a:rPr lang="en" sz="1800">
                <a:solidFill>
                  <a:srgbClr val="FFFFFF"/>
                </a:solidFill>
                <a:latin typeface="Nunito Sans"/>
                <a:ea typeface="Nunito Sans"/>
                <a:cs typeface="Nunito Sans"/>
                <a:sym typeface="Nunito Sans"/>
              </a:rPr>
              <a:t> (Encoder-Decoder): Our second method applies QLoRA to mT5-base (580M), a massively multilingual encoder-decoder pre-trained via span-corruption. The encoder builds a dedicated representation of the classical Chinese source; the decoder cross-attends to it at each generation step, providing a structural translation inductive bias. QLoRA adapters target all three sublayer types: Self-Attention (q, k, v, o) to encode historical context and regulate English meter; Cross-Attention (q, k, v, o) to align the English decoder with the Chinese encoder; and Feed-Forward (wi0, wi1, wo) to specialize poetic vocabulary, updating fewer than 1% of parameters.</a:t>
            </a:r>
            <a:endParaRPr sz="18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b="1" sz="1800">
              <a:solidFill>
                <a:srgbClr val="FFFFFF"/>
              </a:solidFill>
              <a:latin typeface="Nunito Sans"/>
              <a:ea typeface="Nunito Sans"/>
              <a:cs typeface="Nunito Sans"/>
              <a:sym typeface="Nunito Sans"/>
            </a:endParaRPr>
          </a:p>
          <a:p>
            <a:pPr indent="0" lvl="0" marL="0" rtl="0" algn="l">
              <a:lnSpc>
                <a:spcPct val="115000"/>
              </a:lnSpc>
              <a:spcBef>
                <a:spcPts val="0"/>
              </a:spcBef>
              <a:spcAft>
                <a:spcPts val="0"/>
              </a:spcAft>
              <a:buNone/>
            </a:pPr>
            <a:r>
              <a:rPr b="1" lang="en" sz="1800">
                <a:solidFill>
                  <a:srgbClr val="FFFFFF"/>
                </a:solidFill>
                <a:latin typeface="Nunito Sans"/>
                <a:ea typeface="Nunito Sans"/>
                <a:cs typeface="Nunito Sans"/>
                <a:sym typeface="Nunito Sans"/>
              </a:rPr>
              <a:t>OPUS-MT-ZH-EN </a:t>
            </a:r>
            <a:r>
              <a:rPr lang="en" sz="1800">
                <a:solidFill>
                  <a:srgbClr val="FFFFFF"/>
                </a:solidFill>
                <a:latin typeface="Nunito Sans"/>
                <a:ea typeface="Nunito Sans"/>
                <a:cs typeface="Nunito Sans"/>
                <a:sym typeface="Nunito Sans"/>
              </a:rPr>
              <a:t> (Encoder-Decoder): A 74M Marian encoder-decoder pre-trained on large-scale Chinese-to-English parallel corpora. Unlike the multilingual generalists, Opus-MT is already competent at Chinese-to-English translation, reducing fine-tuning to domain adaptation: specializing a capable translator to the classical poetry register. We apply LoRA adapters (r=32, alpha=64) to the attention projections (q, k, v, o) and feed-forward layers in both encoder and decoder, updating fewer than 2% of parameters on a single consumer GPU.</a:t>
            </a:r>
            <a:r>
              <a:rPr lang="en" sz="1800">
                <a:solidFill>
                  <a:srgbClr val="FFFFFF"/>
                </a:solidFill>
                <a:latin typeface="Nunito Sans"/>
                <a:ea typeface="Nunito Sans"/>
                <a:cs typeface="Nunito Sans"/>
                <a:sym typeface="Nunito Sans"/>
              </a:rPr>
              <a:t/>
            </a:r>
            <a:endParaRPr/>
          </a:p>
        </p:txBody>
      </p:sp>
      <p:pic>
        <p:nvPicPr>
          <p:cNvPr id="506" name="Google Shape;506;p60" title="0_mxcmNoM7zxbx4ZX_.png"/>
          <p:cNvPicPr preferRelativeResize="0"/>
          <p:nvPr/>
        </p:nvPicPr>
        <p:blipFill>
          <a:blip r:embed="rId3">
            <a:alphaModFix/>
          </a:blip>
          <a:stretch>
            <a:fillRect/>
          </a:stretch>
        </p:blipFill>
        <p:spPr>
          <a:xfrm>
            <a:off x="6932900" y="1953000"/>
            <a:ext cx="1982501" cy="173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0" name="Shape 510"/>
        <p:cNvGrpSpPr/>
        <p:nvPr/>
      </p:nvGrpSpPr>
      <p:grpSpPr>
        <a:xfrm>
          <a:off x="0" y="0"/>
          <a:ext cx="0" cy="0"/>
          <a:chOff x="0" y="0"/>
          <a:chExt cx="0" cy="0"/>
        </a:xfrm>
      </p:grpSpPr>
      <p:sp>
        <p:nvSpPr>
          <p:cNvPr id="511" name="Google Shape;511;p61"/>
          <p:cNvSpPr txBox="1"/>
          <p:nvPr>
            <p:ph idx="6" type="title"/>
          </p:nvPr>
        </p:nvSpPr>
        <p:spPr>
          <a:xfrm>
            <a:off x="228600" y="228600"/>
            <a:ext cx="576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rgbClr val="FFFFFF"/>
                </a:solidFill>
              </a:rPr>
              <a:t>Method: Opus-MT</a:t>
            </a:r>
            <a:endParaRPr/>
          </a:p>
        </p:txBody>
      </p:sp>
      <p:sp>
        <p:nvSpPr>
          <p:cNvPr id="512" name="Google Shape;512;p61"/>
          <p:cNvSpPr txBox="1"/>
          <p:nvPr/>
        </p:nvSpPr>
        <p:spPr>
          <a:xfrm>
            <a:off x="387225" y="1102950"/>
            <a:ext cx="8139900" cy="259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FFFFFF"/>
                </a:solidFill>
                <a:latin typeface="Nunito Sans"/>
                <a:ea typeface="Nunito Sans"/>
                <a:cs typeface="Nunito Sans"/>
                <a:sym typeface="Nunito Sans"/>
              </a:rPr>
              <a:t>Opus-MT-zh-en</a:t>
            </a:r>
            <a:r>
              <a:rPr lang="en" sz="1800">
                <a:solidFill>
                  <a:srgbClr val="FFFFFF"/>
                </a:solidFill>
                <a:latin typeface="Nunito Sans"/>
                <a:ea typeface="Nunito Sans"/>
                <a:cs typeface="Nunito Sans"/>
                <a:sym typeface="Nunito Sans"/>
              </a:rPr>
              <a:t> (Encoder-Decoder): A compact 74M Marian encoder-decoder pre-trained on large-scale Chinese-to-English parallel corpora. Unlike general-purpose multilingual models, Opus-MT is already competent at Chinese-to-English translation, reducing fine-tuning to a domain adaptation problem: specializing a capable translator to the classical poetry register. We apply LoRA adapters (r=32, alpha=64) to all attention projections (q, k, v, o) and feed-forward layers in both encoder and decoder, updating fewer than 2% of parameters. The model's task-aligned pretraining serves as an inductive prior, allowing LoRA to focus on register adaptation rather than learning the translation task from scratch, deployable on a single consumer GPU.</a:t>
            </a:r>
            <a:r>
              <a:rPr lang="en" sz="1800">
                <a:solidFill>
                  <a:srgbClr val="FFFFFF"/>
                </a:solidFill>
                <a:latin typeface="Nunito Sans"/>
                <a:ea typeface="Nunito Sans"/>
                <a:cs typeface="Nunito Sans"/>
                <a:sym typeface="Nunito Sans"/>
              </a:rPr>
              <a:t/>
            </a:r>
            <a:r>
              <a:rPr lang="en" sz="1800">
                <a:solidFill>
                  <a:srgbClr val="FFFFFF"/>
                </a:solidFill>
                <a:latin typeface="Nunito Sans"/>
                <a:ea typeface="Nunito Sans"/>
                <a:cs typeface="Nunito Sans"/>
                <a:sym typeface="Nunito Sans"/>
              </a:rPr>
              <a:t/>
            </a:r>
            <a:endParaRPr sz="1800">
              <a:solidFill>
                <a:srgbClr val="FFFFFF"/>
              </a:solidFill>
              <a:latin typeface="Nunito Sans"/>
              <a:ea typeface="Nunito Sans"/>
              <a:cs typeface="Nunito Sans"/>
              <a:sym typeface="Nunito Sans"/>
            </a:endParaRPr>
          </a:p>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2"/>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Results</a:t>
            </a:r>
            <a:endParaRPr/>
          </a:p>
        </p:txBody>
      </p:sp>
      <p:grpSp>
        <p:nvGrpSpPr>
          <p:cNvPr id="518" name="Google Shape;518;p62"/>
          <p:cNvGrpSpPr/>
          <p:nvPr/>
        </p:nvGrpSpPr>
        <p:grpSpPr>
          <a:xfrm>
            <a:off x="1823513" y="380063"/>
            <a:ext cx="543525" cy="265250"/>
            <a:chOff x="3195113" y="380063"/>
            <a:chExt cx="543525" cy="265250"/>
          </a:xfrm>
        </p:grpSpPr>
        <p:cxnSp>
          <p:nvCxnSpPr>
            <p:cNvPr id="519" name="Google Shape;519;p62"/>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20" name="Google Shape;520;p62"/>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21" name="Google Shape;521;p62"/>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graphicFrame>
        <p:nvGraphicFramePr>
          <p:cNvPr id="522" name="Google Shape;522;p62"/>
          <p:cNvGraphicFramePr/>
          <p:nvPr/>
        </p:nvGraphicFramePr>
        <p:xfrm>
          <a:off x="289838" y="940325"/>
          <a:ext cx="3000000" cy="3000000"/>
        </p:xfrm>
        <a:graphic>
          <a:graphicData uri="http://schemas.openxmlformats.org/drawingml/2006/table">
            <a:tbl>
              <a:tblPr>
                <a:noFill/>
                <a:tableStyleId>{BD1E7FC8-B988-4483-BCE8-EAA5825FA8B0}</a:tableStyleId>
              </a:tblPr>
              <a:tblGrid>
                <a:gridCol w="1842025"/>
                <a:gridCol w="1090225"/>
                <a:gridCol w="1090225"/>
                <a:gridCol w="1090225"/>
                <a:gridCol w="1090225"/>
                <a:gridCol w="1090225"/>
                <a:gridCol w="1090225"/>
              </a:tblGrid>
              <a:tr h="514450">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Method / Base Model</a:t>
                      </a:r>
                      <a:endParaRPr sz="1000">
                        <a:solidFill>
                          <a:srgbClr val="FFFFFF"/>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BLEU4</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Brevity</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ROUGE-L (F)</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BERTScore (F)</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Train Peak VRAM (GB)</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356854"/>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Inf. Peak VRAM (GB)</a:t>
                      </a:r>
                      <a:endParaRPr sz="1000">
                        <a:solidFill>
                          <a:srgbClr val="FFFFFF"/>
                        </a:solidFill>
                        <a:latin typeface="Roboto"/>
                        <a:ea typeface="Roboto"/>
                        <a:cs typeface="Roboto"/>
                        <a:sym typeface="Roboto"/>
                      </a:endParaRPr>
                    </a:p>
                  </a:txBody>
                  <a:tcPr marT="19050" marB="19050" marR="76200" marL="76200" anchor="ctr">
                    <a:lnL cap="flat" cmpd="sng" w="6350">
                      <a:solidFill>
                        <a:srgbClr val="356854"/>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284E3F"/>
                      </a:solidFill>
                      <a:prstDash val="solid"/>
                      <a:round/>
                      <a:headEnd len="sm" w="sm" type="none"/>
                      <a:tailEnd len="sm" w="sm" type="none"/>
                    </a:lnB>
                    <a:solidFill>
                      <a:srgbClr val="1ACA97"/>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Qwen0.5B-Instruct + 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1.6477</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1.078</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0.1788</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0.8552</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8.83</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0.9</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284E3F"/>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Qwen0.5B-Instruct + QLoRA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2.0236</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0.9098</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0.1823</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0.8599</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7.43</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0.9</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Qwen0.5B-Instruct</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0.7455</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2.3022</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0.1326</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0.8231</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0.66</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000000"/>
                      </a:solidFill>
                      <a:prstDash val="solid"/>
                      <a:round/>
                      <a:headEnd len="sm" w="sm" type="none"/>
                      <a:tailEnd len="sm" w="sm" type="none"/>
                    </a:lnB>
                    <a:solidFill>
                      <a:srgbClr val="FFFFFF"/>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Qwen1.5B-Instruct + 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2.8991</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1.007</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0.2036</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0.8621</a:t>
                      </a:r>
                      <a:endParaRPr b="1"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12.73</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1.91</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Qwen1.5B-Instruct + QLoRA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2.8582</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1.0257</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0.2151</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0.8643</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b="1" lang="en" sz="1000">
                          <a:solidFill>
                            <a:srgbClr val="434343"/>
                          </a:solidFill>
                          <a:latin typeface="Roboto"/>
                          <a:ea typeface="Roboto"/>
                          <a:cs typeface="Roboto"/>
                          <a:sym typeface="Roboto"/>
                        </a:rPr>
                        <a:t>8.42</a:t>
                      </a:r>
                      <a:endParaRPr b="1"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FFFFF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1.91</a:t>
                      </a:r>
                      <a:endParaRPr sz="1000">
                        <a:solidFill>
                          <a:srgbClr val="434343"/>
                        </a:solidFill>
                        <a:latin typeface="Roboto"/>
                        <a:ea typeface="Roboto"/>
                        <a:cs typeface="Roboto"/>
                        <a:sym typeface="Roboto"/>
                      </a:endParaRPr>
                    </a:p>
                  </a:txBody>
                  <a:tcPr marT="19050" marB="19050" marR="76200" marL="76200" anchor="ctr">
                    <a:lnL cap="flat" cmpd="sng" w="6350">
                      <a:solidFill>
                        <a:srgbClr val="FFFFFF"/>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Qwen1.5B-Instruct</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1.7459</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1.9129</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0.1625</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0.8403</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1.55</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Opus-mt-zh-en + 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1.4506</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0.5528</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0.172</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0.848</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rPr>
                        <a:t>7.23</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0.51</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Opus-mt-zh-en</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0.7911</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0.5696</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0.1593</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0.8364</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0.5</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chemeClr val="dk2"/>
                      </a:solidFill>
                      <a:prstDash val="solid"/>
                      <a:round/>
                      <a:headEnd len="sm" w="sm" type="none"/>
                      <a:tailEnd len="sm" w="sm" type="none"/>
                    </a:lnB>
                    <a:solidFill>
                      <a:srgbClr val="F6F8F9"/>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mt5-base + LoRA</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0.2035</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0.0868</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0.8074</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chemeClr val="dk2"/>
                      </a:solidFill>
                      <a:prstDash val="solid"/>
                      <a:round/>
                      <a:headEnd len="sm" w="sm" type="none"/>
                      <a:tailEnd len="sm" w="sm" type="none"/>
                    </a:lnT>
                    <a:lnB cap="flat" cmpd="sng" w="6350">
                      <a:solidFill>
                        <a:srgbClr val="F6F8F9"/>
                      </a:solidFill>
                      <a:prstDash val="solid"/>
                      <a:round/>
                      <a:headEnd len="sm" w="sm" type="none"/>
                      <a:tailEnd len="sm" w="sm" type="none"/>
                    </a:lnB>
                    <a:solidFill>
                      <a:srgbClr val="FFFFFF"/>
                    </a:solidFill>
                  </a:tcPr>
                </a:tc>
              </a:tr>
              <a:tr h="2926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mt5-base</a:t>
                      </a:r>
                      <a:endParaRPr sz="1000">
                        <a:solidFill>
                          <a:srgbClr val="434343"/>
                        </a:solidFill>
                        <a:latin typeface="Roboto"/>
                        <a:ea typeface="Roboto"/>
                        <a:cs typeface="Roboto"/>
                        <a:sym typeface="Roboto"/>
                      </a:endParaRPr>
                    </a:p>
                  </a:txBody>
                  <a:tcPr marT="19050" marB="19050" marR="76200" marL="76200" anchor="ctr">
                    <a:lnL cap="flat" cmpd="sng" w="6350">
                      <a:solidFill>
                        <a:srgbClr val="284E3F"/>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0.0005</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0.0043</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0.7508</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F6F8F9"/>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N/A</a:t>
                      </a:r>
                      <a:endParaRPr sz="1000">
                        <a:solidFill>
                          <a:srgbClr val="434343"/>
                        </a:solidFill>
                        <a:latin typeface="Roboto"/>
                        <a:ea typeface="Roboto"/>
                        <a:cs typeface="Roboto"/>
                        <a:sym typeface="Roboto"/>
                      </a:endParaRPr>
                    </a:p>
                  </a:txBody>
                  <a:tcPr marT="19050" marB="19050" marR="76200" marL="76200" anchor="ctr">
                    <a:lnL cap="flat" cmpd="sng" w="6350">
                      <a:solidFill>
                        <a:srgbClr val="F6F8F9"/>
                      </a:solidFill>
                      <a:prstDash val="solid"/>
                      <a:round/>
                      <a:headEnd len="sm" w="sm" type="none"/>
                      <a:tailEnd len="sm" w="sm" type="none"/>
                    </a:lnL>
                    <a:lnR cap="flat" cmpd="sng" w="6350">
                      <a:solidFill>
                        <a:srgbClr val="284E3F"/>
                      </a:solidFill>
                      <a:prstDash val="solid"/>
                      <a:round/>
                      <a:headEnd len="sm" w="sm" type="none"/>
                      <a:tailEnd len="sm" w="sm" type="none"/>
                    </a:lnR>
                    <a:lnT cap="flat" cmpd="sng" w="6350">
                      <a:solidFill>
                        <a:srgbClr val="F6F8F9"/>
                      </a:solidFill>
                      <a:prstDash val="solid"/>
                      <a:round/>
                      <a:headEnd len="sm" w="sm" type="none"/>
                      <a:tailEnd len="sm" w="sm" type="none"/>
                    </a:lnT>
                    <a:lnB cap="flat" cmpd="sng" w="6350">
                      <a:solidFill>
                        <a:srgbClr val="F6F8F9"/>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63"/>
          <p:cNvSpPr txBox="1"/>
          <p:nvPr>
            <p:ph type="title"/>
          </p:nvPr>
        </p:nvSpPr>
        <p:spPr>
          <a:xfrm>
            <a:off x="228600" y="228600"/>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Conclusion</a:t>
            </a:r>
            <a:endParaRPr/>
          </a:p>
        </p:txBody>
      </p:sp>
      <p:sp>
        <p:nvSpPr>
          <p:cNvPr id="529" name="Google Shape;529;p6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 xml:space="preserve">Decoder-only Qwen models scale predictably under QLoRA: Qwen2.5-1.5B achieves BERTScore 0.864, and even the 0.5B variant (0.860) rivals the 74M specialist, suggesting instruction-tuning provides a strong inductive prior for translation.</a:t>
            </a:r>
            <a:endParaRPr sz="1200">
              <a:solidFill>
                <a:schemeClr val="dk1"/>
              </a:solidFill>
              <a:latin typeface="Nunito Sans"/>
              <a:ea typeface="Nunito Sans"/>
              <a:cs typeface="Nunito Sans"/>
              <a:sym typeface="Nunito Sans"/>
            </a:endParaRPr>
          </a:p>
        </p:txBody>
      </p:sp>
      <p:sp>
        <p:nvSpPr>
          <p:cNvPr id="530" name="Google Shape;530;p6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6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3"/>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3" name="Google Shape;533;p63"/>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4" name="Google Shape;534;p63"/>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5" name="Google Shape;535;p63"/>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6" name="Google Shape;536;p6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3"/>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8" name="Google Shape;538;p63"/>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t/>
            </a:r>
            <a:endParaRPr/>
          </a:p>
        </p:txBody>
      </p:sp>
      <p:sp>
        <p:nvSpPr>
          <p:cNvPr id="539" name="Google Shape;539;p6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6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6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6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6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6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 xml:space="preserve">PEFT (LoRA/QLoRA) consistently improves translation quality across all architectures, confirming parameter-efficient fine-tuning as a viable low-compute strategy for classical poetry domain adaptation.</a:t>
            </a:r>
            <a:endParaRPr sz="1200">
              <a:solidFill>
                <a:schemeClr val="dk1"/>
              </a:solidFill>
              <a:latin typeface="Nunito Sans"/>
              <a:ea typeface="Nunito Sans"/>
              <a:cs typeface="Nunito Sans"/>
              <a:sym typeface="Nunito Sans"/>
            </a:endParaRPr>
          </a:p>
        </p:txBody>
      </p:sp>
      <p:sp>
        <p:nvSpPr>
          <p:cNvPr id="545" name="Google Shape;545;p6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Nunito Sans"/>
                <a:ea typeface="Nunito Sans"/>
                <a:cs typeface="Nunito Sans"/>
                <a:sym typeface="Nunito Sans"/>
              </a:rPr>
              <a:t xml:space="preserve">Task-aligned pretraining outweighs scale: Opus-MT (74M, BERTScore 0.848) outperforms the 8x larger mT5-base generalist (BERTScore 0.751), demonstrating that translation-specific pretraining is more critical than parameter count for low-resource poetry MT.</a:t>
            </a:r>
            <a:endParaRPr sz="1200">
              <a:solidFill>
                <a:schemeClr val="dk1"/>
              </a:solidFill>
              <a:latin typeface="Nunito Sans"/>
              <a:ea typeface="Nunito Sans"/>
              <a:cs typeface="Nunito Sans"/>
              <a:sym typeface="Nunito Sans"/>
            </a:endParaRPr>
          </a:p>
        </p:txBody>
      </p:sp>
      <p:sp>
        <p:nvSpPr>
          <p:cNvPr id="546" name="Google Shape;546;p6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64"/>
          <p:cNvSpPr/>
          <p:nvPr/>
        </p:nvSpPr>
        <p:spPr>
          <a:xfrm>
            <a:off x="3063300" y="556650"/>
            <a:ext cx="4041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552" name="Google Shape;552;p64"/>
          <p:cNvSpPr/>
          <p:nvPr/>
        </p:nvSpPr>
        <p:spPr>
          <a:xfrm>
            <a:off x="319825" y="2597963"/>
            <a:ext cx="3609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cxnSp>
        <p:nvCxnSpPr>
          <p:cNvPr id="553" name="Google Shape;553;p64"/>
          <p:cNvCxnSpPr/>
          <p:nvPr/>
        </p:nvCxnSpPr>
        <p:spPr>
          <a:xfrm>
            <a:off x="3563326" y="611810"/>
            <a:ext cx="4282800" cy="0"/>
          </a:xfrm>
          <a:prstGeom prst="straightConnector1">
            <a:avLst/>
          </a:prstGeom>
          <a:noFill/>
          <a:ln cap="flat" cmpd="sng" w="9525">
            <a:solidFill>
              <a:schemeClr val="accent6"/>
            </a:solidFill>
            <a:prstDash val="solid"/>
            <a:round/>
            <a:headEnd len="med" w="med" type="none"/>
            <a:tailEnd len="med" w="med" type="none"/>
          </a:ln>
        </p:spPr>
      </p:cxnSp>
      <p:cxnSp>
        <p:nvCxnSpPr>
          <p:cNvPr id="554" name="Google Shape;554;p64"/>
          <p:cNvCxnSpPr/>
          <p:nvPr/>
        </p:nvCxnSpPr>
        <p:spPr>
          <a:xfrm>
            <a:off x="765376" y="2610700"/>
            <a:ext cx="3759600" cy="0"/>
          </a:xfrm>
          <a:prstGeom prst="straightConnector1">
            <a:avLst/>
          </a:prstGeom>
          <a:noFill/>
          <a:ln cap="flat" cmpd="sng" w="9525">
            <a:solidFill>
              <a:schemeClr val="accent6"/>
            </a:solidFill>
            <a:prstDash val="solid"/>
            <a:round/>
            <a:headEnd len="med" w="med" type="none"/>
            <a:tailEnd len="med" w="med" type="none"/>
          </a:ln>
        </p:spPr>
      </p:cxnSp>
      <p:sp>
        <p:nvSpPr>
          <p:cNvPr id="555" name="Google Shape;555;p64"/>
          <p:cNvSpPr txBox="1"/>
          <p:nvPr>
            <p:ph idx="4294967295" type="subTitle"/>
          </p:nvPr>
        </p:nvSpPr>
        <p:spPr>
          <a:xfrm>
            <a:off x="3070400" y="556650"/>
            <a:ext cx="404100" cy="40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01</a:t>
            </a:r>
            <a:endParaRPr sz="1400"/>
          </a:p>
        </p:txBody>
      </p:sp>
      <p:sp>
        <p:nvSpPr>
          <p:cNvPr id="556" name="Google Shape;556;p64"/>
          <p:cNvSpPr txBox="1"/>
          <p:nvPr>
            <p:ph idx="4294967295" type="subTitle"/>
          </p:nvPr>
        </p:nvSpPr>
        <p:spPr>
          <a:xfrm>
            <a:off x="294130" y="2597975"/>
            <a:ext cx="439200" cy="40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02</a:t>
            </a:r>
            <a:endParaRPr sz="1400"/>
          </a:p>
        </p:txBody>
      </p:sp>
      <p:sp>
        <p:nvSpPr>
          <p:cNvPr id="557" name="Google Shape;557;p64"/>
          <p:cNvSpPr txBox="1"/>
          <p:nvPr>
            <p:ph idx="2" type="subTitle"/>
          </p:nvPr>
        </p:nvSpPr>
        <p:spPr>
          <a:xfrm>
            <a:off x="3472150" y="530400"/>
            <a:ext cx="4374000" cy="2160900"/>
          </a:xfrm>
          <a:prstGeom prst="rect">
            <a:avLst/>
          </a:prstGeom>
        </p:spPr>
        <p:txBody>
          <a:bodyPr anchorCtr="0" anchor="ctr" bIns="0" lIns="182875" spcFirstLastPara="1" rIns="182875" wrap="square" tIns="0">
            <a:noAutofit/>
          </a:bodyPr>
          <a:lstStyle/>
          <a:p>
            <a:pPr indent="0" lvl="0" marL="0" rtl="0" algn="l">
              <a:lnSpc>
                <a:spcPct val="115000"/>
              </a:lnSpc>
              <a:spcBef>
                <a:spcPts val="0"/>
              </a:spcBef>
              <a:spcAft>
                <a:spcPts val="0"/>
              </a:spcAft>
              <a:buNone/>
            </a:pPr>
            <a:r>
              <a:rPr b="1" lang="en" sz="1400">
                <a:solidFill>
                  <a:schemeClr val="dk1"/>
                </a:solidFill>
                <a:latin typeface="Nunito Sans"/>
                <a:ea typeface="Nunito Sans"/>
                <a:cs typeface="Nunito Sans"/>
                <a:sym typeface="Nunito Sans"/>
              </a:rPr>
              <a:t>Dataset size and coverage.</a:t>
            </a:r>
            <a:r>
              <a:rPr lang="en" sz="1400">
                <a:solidFill>
                  <a:schemeClr val="dk1"/>
                </a:solidFill>
                <a:latin typeface="Nunito Sans"/>
                <a:ea typeface="Nunito Sans"/>
                <a:cs typeface="Nunito Sans"/>
                <a:sym typeface="Nunito Sans"/>
              </a:rPr>
              <a:t> High-quality parallel Chinese-English poetry corpora remain scarce. PoetMT is small relative to general-domain MT datasets and is dominated by Tang shi-style poetry, which may cause fine-tuned models to overfit to that register and generalize poorly to Song ci or ther classical forms.</a:t>
            </a:r>
            <a:endParaRPr sz="1400">
              <a:solidFill>
                <a:schemeClr val="dk1"/>
              </a:solidFill>
              <a:latin typeface="Nunito Sans"/>
              <a:ea typeface="Nunito Sans"/>
              <a:cs typeface="Nunito Sans"/>
              <a:sym typeface="Nunito Sans"/>
            </a:endParaRPr>
          </a:p>
          <a:p>
            <a:pPr indent="0" lvl="0" marL="0" rtl="0" algn="l">
              <a:lnSpc>
                <a:spcPct val="115000"/>
              </a:lnSpc>
              <a:spcBef>
                <a:spcPts val="0"/>
              </a:spcBef>
              <a:spcAft>
                <a:spcPts val="0"/>
              </a:spcAft>
              <a:buNone/>
            </a:pPr>
            <a:r>
              <a:t/>
            </a:r>
            <a:endParaRPr>
              <a:solidFill>
                <a:schemeClr val="dk1"/>
              </a:solidFill>
            </a:endParaRPr>
          </a:p>
        </p:txBody>
      </p:sp>
      <p:sp>
        <p:nvSpPr>
          <p:cNvPr id="558" name="Google Shape;558;p64"/>
          <p:cNvSpPr txBox="1"/>
          <p:nvPr>
            <p:ph idx="3" type="subTitle"/>
          </p:nvPr>
        </p:nvSpPr>
        <p:spPr>
          <a:xfrm>
            <a:off x="687075" y="2751300"/>
            <a:ext cx="3885000" cy="1932300"/>
          </a:xfrm>
          <a:prstGeom prst="rect">
            <a:avLst/>
          </a:prstGeom>
        </p:spPr>
        <p:txBody>
          <a:bodyPr anchorCtr="0" anchor="ctr" bIns="0" lIns="182875" spcFirstLastPara="1" rIns="182875" wrap="square" tIns="0">
            <a:noAutofit/>
          </a:bodyPr>
          <a:lstStyle/>
          <a:p>
            <a:pPr indent="0" lvl="0" marL="0" rtl="0" algn="l">
              <a:lnSpc>
                <a:spcPct val="115000"/>
              </a:lnSpc>
              <a:spcBef>
                <a:spcPts val="0"/>
              </a:spcBef>
              <a:spcAft>
                <a:spcPts val="0"/>
              </a:spcAft>
              <a:buNone/>
            </a:pPr>
            <a:r>
              <a:rPr b="1" lang="en" sz="1400">
                <a:solidFill>
                  <a:schemeClr val="dk1"/>
                </a:solidFill>
                <a:latin typeface="Nunito Sans"/>
                <a:ea typeface="Nunito Sans"/>
                <a:cs typeface="Nunito Sans"/>
                <a:sym typeface="Nunito Sans"/>
              </a:rPr>
              <a:t>Model Size Consistency: </a:t>
            </a:r>
            <a:r>
              <a:rPr lang="en" sz="1400">
                <a:solidFill>
                  <a:schemeClr val="dk1"/>
                </a:solidFill>
                <a:latin typeface="Nunito Sans"/>
                <a:ea typeface="Nunito Sans"/>
                <a:cs typeface="Nunito Sans"/>
                <a:sym typeface="Nunito Sans"/>
              </a:rPr>
              <a:t>The current comparison between Opus-MT-zh-en (74M) and Qwen2.5 (500M) conflates architectural choice with model scale, as the approximately 6.8x parameter disparity precludes a clean attribution of performance differences. Future work should establish a strictly scale-controlled comparison by either identifying a decoder-only baseline of equivalent parameter count, or applying domain-adaptive pretraining on a large Chinese-to-English parallel corpus prior to poetry-specific fine-tuning, thereby isolating the contribution of architecture from that of task-aligned pretraining.</a:t>
            </a:r>
            <a:endParaRPr>
              <a:solidFill>
                <a:schemeClr val="dk1"/>
              </a:solidFill>
            </a:endParaRPr>
          </a:p>
        </p:txBody>
      </p:sp>
      <p:sp>
        <p:nvSpPr>
          <p:cNvPr id="559" name="Google Shape;559;p64"/>
          <p:cNvSpPr txBox="1"/>
          <p:nvPr>
            <p:ph type="title"/>
          </p:nvPr>
        </p:nvSpPr>
        <p:spPr>
          <a:xfrm>
            <a:off x="228600" y="256925"/>
            <a:ext cx="2926200" cy="61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p:txBody>
      </p:sp>
      <p:sp>
        <p:nvSpPr>
          <p:cNvPr id="560" name="Google Shape;560;p64"/>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561" name="Google Shape;561;p64"/>
          <p:cNvSpPr txBox="1"/>
          <p:nvPr/>
        </p:nvSpPr>
        <p:spPr>
          <a:xfrm>
            <a:off x="4955050" y="2751300"/>
            <a:ext cx="3759600" cy="18870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1"/>
                </a:solidFill>
                <a:latin typeface="Nunito Sans"/>
                <a:ea typeface="Nunito Sans"/>
                <a:cs typeface="Nunito Sans"/>
                <a:sym typeface="Nunito Sans"/>
              </a:rPr>
              <a:t>Generalizability.</a:t>
            </a:r>
            <a:r>
              <a:rPr lang="en">
                <a:solidFill>
                  <a:schemeClr val="dk1"/>
                </a:solidFill>
                <a:latin typeface="Nunito Sans"/>
                <a:ea typeface="Nunito Sans"/>
                <a:cs typeface="Nunito Sans"/>
                <a:sym typeface="Nunito Sans"/>
              </a:rPr>
              <a:t> Our framework is validated only on classical Chinese poetry. While we expect the methodology to transfer to other highly stylized translation tasks (ancient prose, religious texts, indigenous storytelling), this remains a hypothesis until empirically tested.</a:t>
            </a:r>
            <a:endParaRPr>
              <a:solidFill>
                <a:schemeClr val="dk1"/>
              </a:solidFill>
              <a:latin typeface="Nunito Sans"/>
              <a:ea typeface="Nunito Sans"/>
              <a:cs typeface="Nunito Sans"/>
              <a:sym typeface="Nunito Sans"/>
            </a:endParaRPr>
          </a:p>
        </p:txBody>
      </p:sp>
      <p:cxnSp>
        <p:nvCxnSpPr>
          <p:cNvPr id="562" name="Google Shape;562;p64"/>
          <p:cNvCxnSpPr/>
          <p:nvPr/>
        </p:nvCxnSpPr>
        <p:spPr>
          <a:xfrm>
            <a:off x="4923001" y="2610700"/>
            <a:ext cx="3759600" cy="0"/>
          </a:xfrm>
          <a:prstGeom prst="straightConnector1">
            <a:avLst/>
          </a:prstGeom>
          <a:noFill/>
          <a:ln cap="flat" cmpd="sng" w="9525">
            <a:solidFill>
              <a:schemeClr val="accent6"/>
            </a:solidFill>
            <a:prstDash val="solid"/>
            <a:round/>
            <a:headEnd len="med" w="med" type="none"/>
            <a:tailEnd len="med" w="med" type="none"/>
          </a:ln>
        </p:spPr>
      </p:cxnSp>
      <p:sp>
        <p:nvSpPr>
          <p:cNvPr id="563" name="Google Shape;563;p64"/>
          <p:cNvSpPr/>
          <p:nvPr/>
        </p:nvSpPr>
        <p:spPr>
          <a:xfrm>
            <a:off x="4582725" y="2597963"/>
            <a:ext cx="360900" cy="400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solidFill>
                <a:schemeClr val="dk2"/>
              </a:solidFill>
              <a:latin typeface="Nunito Sans SemiBold"/>
              <a:ea typeface="Nunito Sans SemiBold"/>
              <a:cs typeface="Nunito Sans SemiBold"/>
              <a:sym typeface="Nunito Sans SemiBold"/>
            </a:endParaRPr>
          </a:p>
        </p:txBody>
      </p:sp>
      <p:sp>
        <p:nvSpPr>
          <p:cNvPr id="564" name="Google Shape;564;p64"/>
          <p:cNvSpPr txBox="1"/>
          <p:nvPr>
            <p:ph idx="4294967295" type="subTitle"/>
          </p:nvPr>
        </p:nvSpPr>
        <p:spPr>
          <a:xfrm>
            <a:off x="4557030" y="2597975"/>
            <a:ext cx="439200" cy="40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03</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